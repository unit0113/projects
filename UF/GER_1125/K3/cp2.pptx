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9" r:id="rId4"/>
    <p:sldId id="260" r:id="rId5"/>
    <p:sldId id="261" r:id="rId6"/>
    <p:sldId id="258"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524" autoAdjust="0"/>
  </p:normalViewPr>
  <p:slideViewPr>
    <p:cSldViewPr snapToGrid="0">
      <p:cViewPr varScale="1">
        <p:scale>
          <a:sx n="80" d="100"/>
          <a:sy n="80" d="100"/>
        </p:scale>
        <p:origin x="1192" y="2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1A9427-772E-492C-B7DB-3D5C47925CA1}" type="datetimeFigureOut">
              <a:rPr lang="en-US" smtClean="0"/>
              <a:t>10/17/2025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028D13-76EA-48E7-AC31-FED9E94EBA18}" type="slidenum">
              <a:rPr lang="en-US" smtClean="0"/>
              <a:t>‹#›</a:t>
            </a:fld>
            <a:endParaRPr lang="en-US"/>
          </a:p>
        </p:txBody>
      </p:sp>
    </p:spTree>
    <p:extLst>
      <p:ext uri="{BB962C8B-B14F-4D97-AF65-F5344CB8AC3E}">
        <p14:creationId xmlns:p14="http://schemas.microsoft.com/office/powerpoint/2010/main" val="2965032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Carl Benz was born in 1844 in </a:t>
            </a:r>
            <a:r>
              <a:rPr lang="en-US" dirty="0" err="1"/>
              <a:t>Mühlburg</a:t>
            </a:r>
            <a:r>
              <a:rPr lang="en-US" dirty="0"/>
              <a:t>, near Karlsruhe in western Germany, and was the son of a train conductor. From an early age, he was fascinated by machines and went on to graduate from the Polytechnic in Karlsruhe with a degree in mechanical engineering. He then worked for several engineering firms before opening his first business in 1871 in Mannheim with August Ritter. The venture almost failed when this partner proved unreliable; but Benz’s fiancée used her dowry to buy out Ritter’s share of the business, keeping the company alive. He then spent years refining his design for a two-stroke engine, which earned him several patents that built the foundation for his later work. In 1883, with new financial backers, he founded Benz &amp; Cie. Rheinische </a:t>
            </a:r>
            <a:r>
              <a:rPr lang="en-US" dirty="0" err="1"/>
              <a:t>Gasmotoren</a:t>
            </a:r>
            <a:r>
              <a:rPr lang="en-US" dirty="0"/>
              <a:t>-Fabrik in Mannheim. The company’s early success producing industrial engines is what finally allowed him to pursue the creation of a self-propelled vehicle. Other inventors approached this problem by attempting to bolt existing engines onto carriages, but Benz’s approach was to treat the engine and chassis as a single integrated system. And in 1885, he built the Benz Patent-Motorwagen, the first purpose-built automobile. It had three wheels, a single-cylinder four-stroke engine producing less than one horsepower and could only reach speeds around 10 miles per hour. And on January 29, 1886, he received German patent No. 37435, which is often called the birth certificate of the automobile. </a:t>
            </a:r>
          </a:p>
          <a:p>
            <a:endParaRPr lang="en-US" dirty="0"/>
          </a:p>
          <a:p>
            <a:r>
              <a:rPr lang="en-US" dirty="0"/>
              <a:t>From here, he continued expanding his company and by 1890 it was Germany’s second-largest engine factory. He had a number of accomplishments throughout the rest of that decade, including solving a steering issue which finally enabled four-wheeled cars, his Benz Velo became the first mass-produced car, with over 1,200 built by 1893, he also designed the first truck, the first motor bus, and patented the boxer flat engine. And by 1900, his company was the world’s largest automobile manufacturer. He retired in 1903 and died in 1929, though his legacy does live on through the Mercedes-Benz company which still bears his name.</a:t>
            </a:r>
          </a:p>
        </p:txBody>
      </p:sp>
      <p:sp>
        <p:nvSpPr>
          <p:cNvPr id="4" name="Slide Number Placeholder 3"/>
          <p:cNvSpPr>
            <a:spLocks noGrp="1"/>
          </p:cNvSpPr>
          <p:nvPr>
            <p:ph type="sldNum" sz="quarter" idx="5"/>
          </p:nvPr>
        </p:nvSpPr>
        <p:spPr/>
        <p:txBody>
          <a:bodyPr/>
          <a:lstStyle/>
          <a:p>
            <a:fld id="{A1028D13-76EA-48E7-AC31-FED9E94EBA18}" type="slidenum">
              <a:rPr lang="en-US" smtClean="0"/>
              <a:t>2</a:t>
            </a:fld>
            <a:endParaRPr lang="en-US"/>
          </a:p>
        </p:txBody>
      </p:sp>
    </p:spTree>
    <p:extLst>
      <p:ext uri="{BB962C8B-B14F-4D97-AF65-F5344CB8AC3E}">
        <p14:creationId xmlns:p14="http://schemas.microsoft.com/office/powerpoint/2010/main" val="410274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place we’ll look at Mannheim. This city played a crucial role in shaping his success and was one of the industrial hearts of Germany during the 19</a:t>
            </a:r>
            <a:r>
              <a:rPr lang="en-US" baseline="30000" dirty="0"/>
              <a:t>th</a:t>
            </a:r>
            <a:r>
              <a:rPr lang="en-US" dirty="0"/>
              <a:t> century. It’s located on the Rhine River at the mouth of the Neckar and started its life as a roman fort in the 1</a:t>
            </a:r>
            <a:r>
              <a:rPr lang="en-US" baseline="30000" dirty="0"/>
              <a:t>st</a:t>
            </a:r>
            <a:r>
              <a:rPr lang="en-US" dirty="0"/>
              <a:t> century, though it was officially established as a city by Fredrick IV in 1606. Its position on the Rhine and near the strategic iron and coal mines of the Rhineland made it a center for trade, transport, and engineering innovation. The city’s harbor, completed in 1834, became one of Europe’s largest inland ports and drew factories, machine shops, and entrepreneurs including Carl Benz from across the region. In addition to its other advantages, the entire city followed a geometric grid pattern, which was efficient and modern even by today’s standards, reflecting the structured thinking that defined the industrial age in post-unification Germany. During this period, Mannheim rebuilt itself after centuries of war and embraced the mechanical revolution, producing engines, chemicals, and steel products that powered Germany’s transformation into a modern nation-state. This thriving industrial atmosphere eventually gave Benz access to the skilled workers, precision tools, and investors he needed to create his automobile.</a:t>
            </a:r>
          </a:p>
        </p:txBody>
      </p:sp>
      <p:sp>
        <p:nvSpPr>
          <p:cNvPr id="4" name="Slide Number Placeholder 3"/>
          <p:cNvSpPr>
            <a:spLocks noGrp="1"/>
          </p:cNvSpPr>
          <p:nvPr>
            <p:ph type="sldNum" sz="quarter" idx="5"/>
          </p:nvPr>
        </p:nvSpPr>
        <p:spPr/>
        <p:txBody>
          <a:bodyPr/>
          <a:lstStyle/>
          <a:p>
            <a:fld id="{A1028D13-76EA-48E7-AC31-FED9E94EBA18}" type="slidenum">
              <a:rPr lang="en-US" smtClean="0"/>
              <a:t>3</a:t>
            </a:fld>
            <a:endParaRPr lang="en-US"/>
          </a:p>
        </p:txBody>
      </p:sp>
    </p:spTree>
    <p:extLst>
      <p:ext uri="{BB962C8B-B14F-4D97-AF65-F5344CB8AC3E}">
        <p14:creationId xmlns:p14="http://schemas.microsoft.com/office/powerpoint/2010/main" val="7683043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now we come to industrialization and its effects on Germany. When the Industrial Revolution collided with German unification in the late 19th century, it created a perfect storm that shaped the new nation’s destiny. New inventions, theories, and processes were being created at an unprecedented rate and now there was a unified German state could coordinate trade, build railways, and develop heavy industry on a national scale. This created an enormous cultural shift. Farmers became factory workers, merchants became manufacturers, and invention became a patriotic act. In Germany, industry became a national identity. </a:t>
            </a:r>
          </a:p>
          <a:p>
            <a:endParaRPr lang="en-US" dirty="0"/>
          </a:p>
          <a:p>
            <a:r>
              <a:rPr lang="en-US" dirty="0"/>
              <a:t>Mannheim was one of the many places that stood at the heart of this transformation, and they were only a small part of a broader national movement toward innovation and science.</a:t>
            </a:r>
          </a:p>
          <a:p>
            <a:endParaRPr lang="en-US" dirty="0"/>
          </a:p>
          <a:p>
            <a:r>
              <a:rPr lang="en-US" dirty="0"/>
              <a:t>Steelworks and factories multiplied, and the products they produced where used to connect distant regions into an interconnected web of production and commerce. Railways stitched together the patchwork of former kingdoms, carrying goods as well as ideas between regions that previously a little contact with each other.</a:t>
            </a:r>
          </a:p>
          <a:p>
            <a:endParaRPr lang="en-US" dirty="0"/>
          </a:p>
          <a:p>
            <a:r>
              <a:rPr lang="en-US" dirty="0"/>
              <a:t>Finally, industrialization also altered how Germans saw themselves. Precision and efficiency became virtues. Education turned toward the applied sciences, and technical mastery and away from the old aristocratic ideals of art and philosophy., shifting the German identity from poets and princes to engineers and builders.</a:t>
            </a:r>
          </a:p>
        </p:txBody>
      </p:sp>
      <p:sp>
        <p:nvSpPr>
          <p:cNvPr id="4" name="Slide Number Placeholder 3"/>
          <p:cNvSpPr>
            <a:spLocks noGrp="1"/>
          </p:cNvSpPr>
          <p:nvPr>
            <p:ph type="sldNum" sz="quarter" idx="5"/>
          </p:nvPr>
        </p:nvSpPr>
        <p:spPr/>
        <p:txBody>
          <a:bodyPr/>
          <a:lstStyle/>
          <a:p>
            <a:fld id="{A1028D13-76EA-48E7-AC31-FED9E94EBA18}" type="slidenum">
              <a:rPr lang="en-US" smtClean="0"/>
              <a:t>4</a:t>
            </a:fld>
            <a:endParaRPr lang="en-US"/>
          </a:p>
        </p:txBody>
      </p:sp>
    </p:spTree>
    <p:extLst>
      <p:ext uri="{BB962C8B-B14F-4D97-AF65-F5344CB8AC3E}">
        <p14:creationId xmlns:p14="http://schemas.microsoft.com/office/powerpoint/2010/main" val="15785068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chose this combination of person, place, and trend because it interacts with two interests of mine. First, is engineering. I’m an engineer by trade, my first degree was in aerospace engineering and I’m currently in the computer science program. So, the technical side of this spoke to me, especially getting to look back at the invention of the car and the environment that created it, which is one of the most influential technologies for most people’s day-to-day life. </a:t>
            </a:r>
          </a:p>
          <a:p>
            <a:endParaRPr lang="en-US" dirty="0"/>
          </a:p>
          <a:p>
            <a:r>
              <a:rPr lang="en-US" dirty="0"/>
              <a:t>The other half of this is the geopolitical side, specifically that one of my favorite reading topics is how trends and other influences can leave their mark on society. Or said another way, how a seemingly small moment can create little nudges on society which shapes it in unexpected ways. Basically, the butterfly effect, but at a national scale. The combination of German unification and industrialization fit this perfectly. There was an entire new society creating a new identity almost from scratch, and the industrial revolution just happened to be occurring at the same time and was all too happy to fill in that vacuum.</a:t>
            </a:r>
          </a:p>
          <a:p>
            <a:endParaRPr lang="en-US" dirty="0"/>
          </a:p>
          <a:p>
            <a:r>
              <a:rPr lang="en-US" dirty="0"/>
              <a:t>So anyways, that why I chose this particular topic.</a:t>
            </a:r>
          </a:p>
        </p:txBody>
      </p:sp>
      <p:sp>
        <p:nvSpPr>
          <p:cNvPr id="4" name="Slide Number Placeholder 3"/>
          <p:cNvSpPr>
            <a:spLocks noGrp="1"/>
          </p:cNvSpPr>
          <p:nvPr>
            <p:ph type="sldNum" sz="quarter" idx="5"/>
          </p:nvPr>
        </p:nvSpPr>
        <p:spPr/>
        <p:txBody>
          <a:bodyPr/>
          <a:lstStyle/>
          <a:p>
            <a:fld id="{A1028D13-76EA-48E7-AC31-FED9E94EBA18}" type="slidenum">
              <a:rPr lang="en-US" smtClean="0"/>
              <a:t>5</a:t>
            </a:fld>
            <a:endParaRPr lang="en-US"/>
          </a:p>
        </p:txBody>
      </p:sp>
    </p:spTree>
    <p:extLst>
      <p:ext uri="{BB962C8B-B14F-4D97-AF65-F5344CB8AC3E}">
        <p14:creationId xmlns:p14="http://schemas.microsoft.com/office/powerpoint/2010/main" val="1396989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373AA-EBF9-208B-520E-D83A7AD89B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AD1500C-5A42-71E8-1CEF-B3A4F27B95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28FB104-B20E-29EB-1F79-E271335FB89A}"/>
              </a:ext>
            </a:extLst>
          </p:cNvPr>
          <p:cNvSpPr>
            <a:spLocks noGrp="1"/>
          </p:cNvSpPr>
          <p:nvPr>
            <p:ph type="dt" sz="half" idx="10"/>
          </p:nvPr>
        </p:nvSpPr>
        <p:spPr/>
        <p:txBody>
          <a:bodyPr/>
          <a:lstStyle/>
          <a:p>
            <a:fld id="{35DDA8A8-5482-4297-B91D-E756B8AEB79A}" type="datetimeFigureOut">
              <a:rPr lang="en-US" smtClean="0"/>
              <a:t>10/17/2025</a:t>
            </a:fld>
            <a:endParaRPr lang="en-US"/>
          </a:p>
        </p:txBody>
      </p:sp>
      <p:sp>
        <p:nvSpPr>
          <p:cNvPr id="5" name="Footer Placeholder 4">
            <a:extLst>
              <a:ext uri="{FF2B5EF4-FFF2-40B4-BE49-F238E27FC236}">
                <a16:creationId xmlns:a16="http://schemas.microsoft.com/office/drawing/2014/main" id="{B8860961-4167-B6A3-0379-2518A37A7E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4A29A1-43CF-E8F0-04AE-16D1FE30E6BE}"/>
              </a:ext>
            </a:extLst>
          </p:cNvPr>
          <p:cNvSpPr>
            <a:spLocks noGrp="1"/>
          </p:cNvSpPr>
          <p:nvPr>
            <p:ph type="sldNum" sz="quarter" idx="12"/>
          </p:nvPr>
        </p:nvSpPr>
        <p:spPr/>
        <p:txBody>
          <a:bodyPr/>
          <a:lstStyle/>
          <a:p>
            <a:fld id="{FEC3E0FF-508B-409E-A39C-825E95B7A053}" type="slidenum">
              <a:rPr lang="en-US" smtClean="0"/>
              <a:t>‹#›</a:t>
            </a:fld>
            <a:endParaRPr lang="en-US"/>
          </a:p>
        </p:txBody>
      </p:sp>
    </p:spTree>
    <p:extLst>
      <p:ext uri="{BB962C8B-B14F-4D97-AF65-F5344CB8AC3E}">
        <p14:creationId xmlns:p14="http://schemas.microsoft.com/office/powerpoint/2010/main" val="3194496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0B138-4E62-B22F-2319-339854F07C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F03B6C-7931-2FCD-3BBC-FEB3AD7414D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EF3633-6D03-EA16-D1B0-0C7BBD301146}"/>
              </a:ext>
            </a:extLst>
          </p:cNvPr>
          <p:cNvSpPr>
            <a:spLocks noGrp="1"/>
          </p:cNvSpPr>
          <p:nvPr>
            <p:ph type="dt" sz="half" idx="10"/>
          </p:nvPr>
        </p:nvSpPr>
        <p:spPr/>
        <p:txBody>
          <a:bodyPr/>
          <a:lstStyle/>
          <a:p>
            <a:fld id="{35DDA8A8-5482-4297-B91D-E756B8AEB79A}" type="datetimeFigureOut">
              <a:rPr lang="en-US" smtClean="0"/>
              <a:t>10/17/2025</a:t>
            </a:fld>
            <a:endParaRPr lang="en-US"/>
          </a:p>
        </p:txBody>
      </p:sp>
      <p:sp>
        <p:nvSpPr>
          <p:cNvPr id="5" name="Footer Placeholder 4">
            <a:extLst>
              <a:ext uri="{FF2B5EF4-FFF2-40B4-BE49-F238E27FC236}">
                <a16:creationId xmlns:a16="http://schemas.microsoft.com/office/drawing/2014/main" id="{B825ED3B-76E0-6103-5AA1-122A29F73E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404296-42CD-910E-565B-F50E4FF9A532}"/>
              </a:ext>
            </a:extLst>
          </p:cNvPr>
          <p:cNvSpPr>
            <a:spLocks noGrp="1"/>
          </p:cNvSpPr>
          <p:nvPr>
            <p:ph type="sldNum" sz="quarter" idx="12"/>
          </p:nvPr>
        </p:nvSpPr>
        <p:spPr/>
        <p:txBody>
          <a:bodyPr/>
          <a:lstStyle/>
          <a:p>
            <a:fld id="{FEC3E0FF-508B-409E-A39C-825E95B7A053}" type="slidenum">
              <a:rPr lang="en-US" smtClean="0"/>
              <a:t>‹#›</a:t>
            </a:fld>
            <a:endParaRPr lang="en-US"/>
          </a:p>
        </p:txBody>
      </p:sp>
    </p:spTree>
    <p:extLst>
      <p:ext uri="{BB962C8B-B14F-4D97-AF65-F5344CB8AC3E}">
        <p14:creationId xmlns:p14="http://schemas.microsoft.com/office/powerpoint/2010/main" val="2684341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5618E-1564-48BB-A7DE-5CD36E6C482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AEB68DF-3D89-782E-CBB8-2E43BFB78E1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F69268-CD34-6005-E29A-88BAEE108EA1}"/>
              </a:ext>
            </a:extLst>
          </p:cNvPr>
          <p:cNvSpPr>
            <a:spLocks noGrp="1"/>
          </p:cNvSpPr>
          <p:nvPr>
            <p:ph type="dt" sz="half" idx="10"/>
          </p:nvPr>
        </p:nvSpPr>
        <p:spPr/>
        <p:txBody>
          <a:bodyPr/>
          <a:lstStyle/>
          <a:p>
            <a:fld id="{35DDA8A8-5482-4297-B91D-E756B8AEB79A}" type="datetimeFigureOut">
              <a:rPr lang="en-US" smtClean="0"/>
              <a:t>10/17/2025</a:t>
            </a:fld>
            <a:endParaRPr lang="en-US"/>
          </a:p>
        </p:txBody>
      </p:sp>
      <p:sp>
        <p:nvSpPr>
          <p:cNvPr id="5" name="Footer Placeholder 4">
            <a:extLst>
              <a:ext uri="{FF2B5EF4-FFF2-40B4-BE49-F238E27FC236}">
                <a16:creationId xmlns:a16="http://schemas.microsoft.com/office/drawing/2014/main" id="{07558FB0-0A6D-1D4F-8F27-111563B02F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C6C284-01D8-6AE2-7F2B-95EBCBD17794}"/>
              </a:ext>
            </a:extLst>
          </p:cNvPr>
          <p:cNvSpPr>
            <a:spLocks noGrp="1"/>
          </p:cNvSpPr>
          <p:nvPr>
            <p:ph type="sldNum" sz="quarter" idx="12"/>
          </p:nvPr>
        </p:nvSpPr>
        <p:spPr/>
        <p:txBody>
          <a:bodyPr/>
          <a:lstStyle/>
          <a:p>
            <a:fld id="{FEC3E0FF-508B-409E-A39C-825E95B7A053}" type="slidenum">
              <a:rPr lang="en-US" smtClean="0"/>
              <a:t>‹#›</a:t>
            </a:fld>
            <a:endParaRPr lang="en-US"/>
          </a:p>
        </p:txBody>
      </p:sp>
    </p:spTree>
    <p:extLst>
      <p:ext uri="{BB962C8B-B14F-4D97-AF65-F5344CB8AC3E}">
        <p14:creationId xmlns:p14="http://schemas.microsoft.com/office/powerpoint/2010/main" val="1119060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A446E-5BB9-9C79-C8CE-23591322CF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C5F778-34F4-B008-4CA8-C8292F588B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D1B118-121F-E919-C498-E873CCA3138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FF9038-76F7-25F3-914E-9E8FDFECD229}"/>
              </a:ext>
            </a:extLst>
          </p:cNvPr>
          <p:cNvSpPr>
            <a:spLocks noGrp="1"/>
          </p:cNvSpPr>
          <p:nvPr>
            <p:ph type="dt" sz="half" idx="10"/>
          </p:nvPr>
        </p:nvSpPr>
        <p:spPr/>
        <p:txBody>
          <a:bodyPr/>
          <a:lstStyle/>
          <a:p>
            <a:fld id="{35DDA8A8-5482-4297-B91D-E756B8AEB79A}" type="datetimeFigureOut">
              <a:rPr lang="en-US" smtClean="0"/>
              <a:t>10/17/2025</a:t>
            </a:fld>
            <a:endParaRPr lang="en-US"/>
          </a:p>
        </p:txBody>
      </p:sp>
      <p:sp>
        <p:nvSpPr>
          <p:cNvPr id="6" name="Footer Placeholder 5">
            <a:extLst>
              <a:ext uri="{FF2B5EF4-FFF2-40B4-BE49-F238E27FC236}">
                <a16:creationId xmlns:a16="http://schemas.microsoft.com/office/drawing/2014/main" id="{88CF0475-43D5-697A-EECC-F9AFA857D9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269CE3-043D-7129-767A-A9485FC0C8FD}"/>
              </a:ext>
            </a:extLst>
          </p:cNvPr>
          <p:cNvSpPr>
            <a:spLocks noGrp="1"/>
          </p:cNvSpPr>
          <p:nvPr>
            <p:ph type="sldNum" sz="quarter" idx="12"/>
          </p:nvPr>
        </p:nvSpPr>
        <p:spPr/>
        <p:txBody>
          <a:bodyPr/>
          <a:lstStyle/>
          <a:p>
            <a:fld id="{FEC3E0FF-508B-409E-A39C-825E95B7A053}" type="slidenum">
              <a:rPr lang="en-US" smtClean="0"/>
              <a:t>‹#›</a:t>
            </a:fld>
            <a:endParaRPr lang="en-US"/>
          </a:p>
        </p:txBody>
      </p:sp>
    </p:spTree>
    <p:extLst>
      <p:ext uri="{BB962C8B-B14F-4D97-AF65-F5344CB8AC3E}">
        <p14:creationId xmlns:p14="http://schemas.microsoft.com/office/powerpoint/2010/main" val="13289066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2C45A-3AF3-E83E-9049-11DDCF8B6AB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7C505EE-D877-881D-0209-4780FB4A81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08A736-8316-F6B7-FC05-60D4A3708EA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CE171FC-1C9D-6662-4705-099DF76790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2E743B-DFEC-E48F-9995-7E15357A943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C7FA32-8765-32CC-D27B-6E125CF72776}"/>
              </a:ext>
            </a:extLst>
          </p:cNvPr>
          <p:cNvSpPr>
            <a:spLocks noGrp="1"/>
          </p:cNvSpPr>
          <p:nvPr>
            <p:ph type="dt" sz="half" idx="10"/>
          </p:nvPr>
        </p:nvSpPr>
        <p:spPr/>
        <p:txBody>
          <a:bodyPr/>
          <a:lstStyle/>
          <a:p>
            <a:fld id="{35DDA8A8-5482-4297-B91D-E756B8AEB79A}" type="datetimeFigureOut">
              <a:rPr lang="en-US" smtClean="0"/>
              <a:t>10/17/2025</a:t>
            </a:fld>
            <a:endParaRPr lang="en-US"/>
          </a:p>
        </p:txBody>
      </p:sp>
      <p:sp>
        <p:nvSpPr>
          <p:cNvPr id="8" name="Footer Placeholder 7">
            <a:extLst>
              <a:ext uri="{FF2B5EF4-FFF2-40B4-BE49-F238E27FC236}">
                <a16:creationId xmlns:a16="http://schemas.microsoft.com/office/drawing/2014/main" id="{A926680F-6003-F7EB-E313-5E5C8158858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7B1A34D-A063-C4DC-AC8D-46A0A7892A76}"/>
              </a:ext>
            </a:extLst>
          </p:cNvPr>
          <p:cNvSpPr>
            <a:spLocks noGrp="1"/>
          </p:cNvSpPr>
          <p:nvPr>
            <p:ph type="sldNum" sz="quarter" idx="12"/>
          </p:nvPr>
        </p:nvSpPr>
        <p:spPr/>
        <p:txBody>
          <a:bodyPr/>
          <a:lstStyle/>
          <a:p>
            <a:fld id="{FEC3E0FF-508B-409E-A39C-825E95B7A053}" type="slidenum">
              <a:rPr lang="en-US" smtClean="0"/>
              <a:t>‹#›</a:t>
            </a:fld>
            <a:endParaRPr lang="en-US"/>
          </a:p>
        </p:txBody>
      </p:sp>
    </p:spTree>
    <p:extLst>
      <p:ext uri="{BB962C8B-B14F-4D97-AF65-F5344CB8AC3E}">
        <p14:creationId xmlns:p14="http://schemas.microsoft.com/office/powerpoint/2010/main" val="11440442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50D9B-4017-E4F3-73AC-AB979AFEA0A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9B5D9A1-928A-9F23-B895-2A59DA23506F}"/>
              </a:ext>
            </a:extLst>
          </p:cNvPr>
          <p:cNvSpPr>
            <a:spLocks noGrp="1"/>
          </p:cNvSpPr>
          <p:nvPr>
            <p:ph type="dt" sz="half" idx="10"/>
          </p:nvPr>
        </p:nvSpPr>
        <p:spPr/>
        <p:txBody>
          <a:bodyPr/>
          <a:lstStyle/>
          <a:p>
            <a:fld id="{35DDA8A8-5482-4297-B91D-E756B8AEB79A}" type="datetimeFigureOut">
              <a:rPr lang="en-US" smtClean="0"/>
              <a:t>10/17/2025</a:t>
            </a:fld>
            <a:endParaRPr lang="en-US"/>
          </a:p>
        </p:txBody>
      </p:sp>
      <p:sp>
        <p:nvSpPr>
          <p:cNvPr id="4" name="Footer Placeholder 3">
            <a:extLst>
              <a:ext uri="{FF2B5EF4-FFF2-40B4-BE49-F238E27FC236}">
                <a16:creationId xmlns:a16="http://schemas.microsoft.com/office/drawing/2014/main" id="{2B39E744-3945-C859-1010-63FB687DD9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ED254A5-425A-9447-C946-256358359CC8}"/>
              </a:ext>
            </a:extLst>
          </p:cNvPr>
          <p:cNvSpPr>
            <a:spLocks noGrp="1"/>
          </p:cNvSpPr>
          <p:nvPr>
            <p:ph type="sldNum" sz="quarter" idx="12"/>
          </p:nvPr>
        </p:nvSpPr>
        <p:spPr/>
        <p:txBody>
          <a:bodyPr/>
          <a:lstStyle/>
          <a:p>
            <a:fld id="{FEC3E0FF-508B-409E-A39C-825E95B7A053}" type="slidenum">
              <a:rPr lang="en-US" smtClean="0"/>
              <a:t>‹#›</a:t>
            </a:fld>
            <a:endParaRPr lang="en-US"/>
          </a:p>
        </p:txBody>
      </p:sp>
    </p:spTree>
    <p:extLst>
      <p:ext uri="{BB962C8B-B14F-4D97-AF65-F5344CB8AC3E}">
        <p14:creationId xmlns:p14="http://schemas.microsoft.com/office/powerpoint/2010/main" val="29969857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58FB42-28DE-CAA7-6DD0-0D461DC4B7ED}"/>
              </a:ext>
            </a:extLst>
          </p:cNvPr>
          <p:cNvSpPr>
            <a:spLocks noGrp="1"/>
          </p:cNvSpPr>
          <p:nvPr>
            <p:ph type="dt" sz="half" idx="10"/>
          </p:nvPr>
        </p:nvSpPr>
        <p:spPr/>
        <p:txBody>
          <a:bodyPr/>
          <a:lstStyle/>
          <a:p>
            <a:fld id="{35DDA8A8-5482-4297-B91D-E756B8AEB79A}" type="datetimeFigureOut">
              <a:rPr lang="en-US" smtClean="0"/>
              <a:t>10/17/2025</a:t>
            </a:fld>
            <a:endParaRPr lang="en-US"/>
          </a:p>
        </p:txBody>
      </p:sp>
      <p:sp>
        <p:nvSpPr>
          <p:cNvPr id="3" name="Footer Placeholder 2">
            <a:extLst>
              <a:ext uri="{FF2B5EF4-FFF2-40B4-BE49-F238E27FC236}">
                <a16:creationId xmlns:a16="http://schemas.microsoft.com/office/drawing/2014/main" id="{8E96B302-4A3D-7F5E-A9B3-A33EA8FFF2F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FE5445-6648-2419-C124-CCD5B3575FAC}"/>
              </a:ext>
            </a:extLst>
          </p:cNvPr>
          <p:cNvSpPr>
            <a:spLocks noGrp="1"/>
          </p:cNvSpPr>
          <p:nvPr>
            <p:ph type="sldNum" sz="quarter" idx="12"/>
          </p:nvPr>
        </p:nvSpPr>
        <p:spPr/>
        <p:txBody>
          <a:bodyPr/>
          <a:lstStyle/>
          <a:p>
            <a:fld id="{FEC3E0FF-508B-409E-A39C-825E95B7A053}" type="slidenum">
              <a:rPr lang="en-US" smtClean="0"/>
              <a:t>‹#›</a:t>
            </a:fld>
            <a:endParaRPr lang="en-US"/>
          </a:p>
        </p:txBody>
      </p:sp>
    </p:spTree>
    <p:extLst>
      <p:ext uri="{BB962C8B-B14F-4D97-AF65-F5344CB8AC3E}">
        <p14:creationId xmlns:p14="http://schemas.microsoft.com/office/powerpoint/2010/main" val="40302224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A5F7A-A2A2-460C-2EA4-3215A8DE88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DF322A7-D4D1-5721-6BA1-7364097B3D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85C5502-E9D9-7CF9-1F2D-327085393D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7F96DC-78DF-6DB2-EA4D-9FB84BDA4D2B}"/>
              </a:ext>
            </a:extLst>
          </p:cNvPr>
          <p:cNvSpPr>
            <a:spLocks noGrp="1"/>
          </p:cNvSpPr>
          <p:nvPr>
            <p:ph type="dt" sz="half" idx="10"/>
          </p:nvPr>
        </p:nvSpPr>
        <p:spPr/>
        <p:txBody>
          <a:bodyPr/>
          <a:lstStyle/>
          <a:p>
            <a:fld id="{35DDA8A8-5482-4297-B91D-E756B8AEB79A}" type="datetimeFigureOut">
              <a:rPr lang="en-US" smtClean="0"/>
              <a:t>10/17/2025</a:t>
            </a:fld>
            <a:endParaRPr lang="en-US"/>
          </a:p>
        </p:txBody>
      </p:sp>
      <p:sp>
        <p:nvSpPr>
          <p:cNvPr id="6" name="Footer Placeholder 5">
            <a:extLst>
              <a:ext uri="{FF2B5EF4-FFF2-40B4-BE49-F238E27FC236}">
                <a16:creationId xmlns:a16="http://schemas.microsoft.com/office/drawing/2014/main" id="{0B36899A-4B11-DBAF-296C-07F673E996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A5B04A-5B7F-8B9E-D150-E2F9DD724AEB}"/>
              </a:ext>
            </a:extLst>
          </p:cNvPr>
          <p:cNvSpPr>
            <a:spLocks noGrp="1"/>
          </p:cNvSpPr>
          <p:nvPr>
            <p:ph type="sldNum" sz="quarter" idx="12"/>
          </p:nvPr>
        </p:nvSpPr>
        <p:spPr/>
        <p:txBody>
          <a:bodyPr/>
          <a:lstStyle/>
          <a:p>
            <a:fld id="{FEC3E0FF-508B-409E-A39C-825E95B7A053}" type="slidenum">
              <a:rPr lang="en-US" smtClean="0"/>
              <a:t>‹#›</a:t>
            </a:fld>
            <a:endParaRPr lang="en-US"/>
          </a:p>
        </p:txBody>
      </p:sp>
    </p:spTree>
    <p:extLst>
      <p:ext uri="{BB962C8B-B14F-4D97-AF65-F5344CB8AC3E}">
        <p14:creationId xmlns:p14="http://schemas.microsoft.com/office/powerpoint/2010/main" val="4671660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03887-4A15-D627-F1D2-EE1E2A0E07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0157ABF-8B4B-8C54-DE31-C04E5EDED9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BC1A650-C524-EC2E-4D7C-FCC24BCDE2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15CB3B-557F-0E5B-0C68-04F95CF9CA7C}"/>
              </a:ext>
            </a:extLst>
          </p:cNvPr>
          <p:cNvSpPr>
            <a:spLocks noGrp="1"/>
          </p:cNvSpPr>
          <p:nvPr>
            <p:ph type="dt" sz="half" idx="10"/>
          </p:nvPr>
        </p:nvSpPr>
        <p:spPr/>
        <p:txBody>
          <a:bodyPr/>
          <a:lstStyle/>
          <a:p>
            <a:fld id="{35DDA8A8-5482-4297-B91D-E756B8AEB79A}" type="datetimeFigureOut">
              <a:rPr lang="en-US" smtClean="0"/>
              <a:t>10/17/2025</a:t>
            </a:fld>
            <a:endParaRPr lang="en-US"/>
          </a:p>
        </p:txBody>
      </p:sp>
      <p:sp>
        <p:nvSpPr>
          <p:cNvPr id="6" name="Footer Placeholder 5">
            <a:extLst>
              <a:ext uri="{FF2B5EF4-FFF2-40B4-BE49-F238E27FC236}">
                <a16:creationId xmlns:a16="http://schemas.microsoft.com/office/drawing/2014/main" id="{829CC55B-F5EE-261C-25A2-6A7A1FE564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483FE8-F5C1-3C45-DDA9-78BE60A122F9}"/>
              </a:ext>
            </a:extLst>
          </p:cNvPr>
          <p:cNvSpPr>
            <a:spLocks noGrp="1"/>
          </p:cNvSpPr>
          <p:nvPr>
            <p:ph type="sldNum" sz="quarter" idx="12"/>
          </p:nvPr>
        </p:nvSpPr>
        <p:spPr/>
        <p:txBody>
          <a:bodyPr/>
          <a:lstStyle/>
          <a:p>
            <a:fld id="{FEC3E0FF-508B-409E-A39C-825E95B7A053}" type="slidenum">
              <a:rPr lang="en-US" smtClean="0"/>
              <a:t>‹#›</a:t>
            </a:fld>
            <a:endParaRPr lang="en-US"/>
          </a:p>
        </p:txBody>
      </p:sp>
    </p:spTree>
    <p:extLst>
      <p:ext uri="{BB962C8B-B14F-4D97-AF65-F5344CB8AC3E}">
        <p14:creationId xmlns:p14="http://schemas.microsoft.com/office/powerpoint/2010/main" val="295962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2CACF-CC1E-77A6-A4A1-93B0F0DA9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F5F9C5-A27C-049A-B091-AD224E27B6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624727-427D-B6BB-444E-E1C65510F47B}"/>
              </a:ext>
            </a:extLst>
          </p:cNvPr>
          <p:cNvSpPr>
            <a:spLocks noGrp="1"/>
          </p:cNvSpPr>
          <p:nvPr>
            <p:ph type="dt" sz="half" idx="10"/>
          </p:nvPr>
        </p:nvSpPr>
        <p:spPr/>
        <p:txBody>
          <a:bodyPr/>
          <a:lstStyle/>
          <a:p>
            <a:fld id="{35DDA8A8-5482-4297-B91D-E756B8AEB79A}" type="datetimeFigureOut">
              <a:rPr lang="en-US" smtClean="0"/>
              <a:t>10/17/2025</a:t>
            </a:fld>
            <a:endParaRPr lang="en-US"/>
          </a:p>
        </p:txBody>
      </p:sp>
      <p:sp>
        <p:nvSpPr>
          <p:cNvPr id="5" name="Footer Placeholder 4">
            <a:extLst>
              <a:ext uri="{FF2B5EF4-FFF2-40B4-BE49-F238E27FC236}">
                <a16:creationId xmlns:a16="http://schemas.microsoft.com/office/drawing/2014/main" id="{45A0731A-038B-CD82-2DF3-A467485E04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6C3DCB-8E11-8163-441F-5BFD3EB042A7}"/>
              </a:ext>
            </a:extLst>
          </p:cNvPr>
          <p:cNvSpPr>
            <a:spLocks noGrp="1"/>
          </p:cNvSpPr>
          <p:nvPr>
            <p:ph type="sldNum" sz="quarter" idx="12"/>
          </p:nvPr>
        </p:nvSpPr>
        <p:spPr/>
        <p:txBody>
          <a:bodyPr/>
          <a:lstStyle/>
          <a:p>
            <a:fld id="{FEC3E0FF-508B-409E-A39C-825E95B7A053}" type="slidenum">
              <a:rPr lang="en-US" smtClean="0"/>
              <a:t>‹#›</a:t>
            </a:fld>
            <a:endParaRPr lang="en-US"/>
          </a:p>
        </p:txBody>
      </p:sp>
    </p:spTree>
    <p:extLst>
      <p:ext uri="{BB962C8B-B14F-4D97-AF65-F5344CB8AC3E}">
        <p14:creationId xmlns:p14="http://schemas.microsoft.com/office/powerpoint/2010/main" val="34618873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9FFF50-4EA5-407A-F39E-C4DE0D1299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0864695-09AD-C438-22AD-F1EA5D732B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1DAC0-BEDF-E862-C48B-FD9E908CE14E}"/>
              </a:ext>
            </a:extLst>
          </p:cNvPr>
          <p:cNvSpPr>
            <a:spLocks noGrp="1"/>
          </p:cNvSpPr>
          <p:nvPr>
            <p:ph type="dt" sz="half" idx="10"/>
          </p:nvPr>
        </p:nvSpPr>
        <p:spPr/>
        <p:txBody>
          <a:bodyPr/>
          <a:lstStyle/>
          <a:p>
            <a:fld id="{35DDA8A8-5482-4297-B91D-E756B8AEB79A}" type="datetimeFigureOut">
              <a:rPr lang="en-US" smtClean="0"/>
              <a:t>10/17/2025</a:t>
            </a:fld>
            <a:endParaRPr lang="en-US"/>
          </a:p>
        </p:txBody>
      </p:sp>
      <p:sp>
        <p:nvSpPr>
          <p:cNvPr id="5" name="Footer Placeholder 4">
            <a:extLst>
              <a:ext uri="{FF2B5EF4-FFF2-40B4-BE49-F238E27FC236}">
                <a16:creationId xmlns:a16="http://schemas.microsoft.com/office/drawing/2014/main" id="{3FA21306-1BDF-732D-FF67-6CB6439C96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FCBB17-9767-8B94-2C29-96BB3878DECA}"/>
              </a:ext>
            </a:extLst>
          </p:cNvPr>
          <p:cNvSpPr>
            <a:spLocks noGrp="1"/>
          </p:cNvSpPr>
          <p:nvPr>
            <p:ph type="sldNum" sz="quarter" idx="12"/>
          </p:nvPr>
        </p:nvSpPr>
        <p:spPr/>
        <p:txBody>
          <a:bodyPr/>
          <a:lstStyle/>
          <a:p>
            <a:fld id="{FEC3E0FF-508B-409E-A39C-825E95B7A053}" type="slidenum">
              <a:rPr lang="en-US" smtClean="0"/>
              <a:t>‹#›</a:t>
            </a:fld>
            <a:endParaRPr lang="en-US"/>
          </a:p>
        </p:txBody>
      </p:sp>
    </p:spTree>
    <p:extLst>
      <p:ext uri="{BB962C8B-B14F-4D97-AF65-F5344CB8AC3E}">
        <p14:creationId xmlns:p14="http://schemas.microsoft.com/office/powerpoint/2010/main" val="3650693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6AFE3C-01F3-9F3A-A835-2858D55024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D095E8-5FA2-930F-AD3A-E30C4035B9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54D427-AEB0-847C-7846-47F05438E6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5DDA8A8-5482-4297-B91D-E756B8AEB79A}" type="datetimeFigureOut">
              <a:rPr lang="en-US" smtClean="0"/>
              <a:t>10/17/2025</a:t>
            </a:fld>
            <a:endParaRPr lang="en-US"/>
          </a:p>
        </p:txBody>
      </p:sp>
      <p:sp>
        <p:nvSpPr>
          <p:cNvPr id="5" name="Footer Placeholder 4">
            <a:extLst>
              <a:ext uri="{FF2B5EF4-FFF2-40B4-BE49-F238E27FC236}">
                <a16:creationId xmlns:a16="http://schemas.microsoft.com/office/drawing/2014/main" id="{D2E18209-2902-A1A1-7105-66C0995C5D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342B045-4D2B-A518-0FDD-70F2A35C05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EC3E0FF-508B-409E-A39C-825E95B7A053}" type="slidenum">
              <a:rPr lang="en-US" smtClean="0"/>
              <a:t>‹#›</a:t>
            </a:fld>
            <a:endParaRPr lang="en-US"/>
          </a:p>
        </p:txBody>
      </p:sp>
    </p:spTree>
    <p:extLst>
      <p:ext uri="{BB962C8B-B14F-4D97-AF65-F5344CB8AC3E}">
        <p14:creationId xmlns:p14="http://schemas.microsoft.com/office/powerpoint/2010/main" val="34977045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hyperlink" Target="https://www.google.com/maps/@48.4877754,4.1995178,5.5z?entry=ttu&amp;g_ep=EgoyMDI1MTAxNC4wIKXMDSoASAFQAw%3D%3D" TargetMode="External"/><Relationship Id="rId4" Type="http://schemas.openxmlformats.org/officeDocument/2006/relationships/hyperlink" Target="https://earth.google.com/web/search/Mannheim,+Germany/@49.48387818,8.47682962,90.27921905a,357.00083135d,35y,-3.93308919h,49.26953559t,0r/data=CiwiJgokCRz9530eOjRAERz9530eOjTAGWI_pRrgVElAIQ7FumXKiUnAQgIIAToDCgEwQgIIAEoNCP___________wEQAA"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s://doi.org/10.1017/s0022050722000377" TargetMode="External"/><Relationship Id="rId2" Type="http://schemas.openxmlformats.org/officeDocument/2006/relationships/hyperlink" Target="http://www.thoughtco.com/karl-benz-and-automobile-4077066.%20Accessed%2017%20Oct.%202025" TargetMode="External"/><Relationship Id="rId1" Type="http://schemas.openxmlformats.org/officeDocument/2006/relationships/slideLayout" Target="../slideLayouts/slideLayout2.xml"/><Relationship Id="rId4" Type="http://schemas.openxmlformats.org/officeDocument/2006/relationships/hyperlink" Target="http://www.britannica.com/place/Mannhei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98560-03C5-AA22-C7E1-05544567CA90}"/>
              </a:ext>
            </a:extLst>
          </p:cNvPr>
          <p:cNvSpPr>
            <a:spLocks noGrp="1"/>
          </p:cNvSpPr>
          <p:nvPr>
            <p:ph type="ctrTitle"/>
          </p:nvPr>
        </p:nvSpPr>
        <p:spPr/>
        <p:txBody>
          <a:bodyPr/>
          <a:lstStyle/>
          <a:p>
            <a:r>
              <a:rPr lang="en-US" dirty="0" err="1"/>
              <a:t>Woche</a:t>
            </a:r>
            <a:r>
              <a:rPr lang="en-US" dirty="0"/>
              <a:t> 8: Cultural Presentation</a:t>
            </a:r>
          </a:p>
        </p:txBody>
      </p:sp>
      <p:sp>
        <p:nvSpPr>
          <p:cNvPr id="3" name="Subtitle 2">
            <a:extLst>
              <a:ext uri="{FF2B5EF4-FFF2-40B4-BE49-F238E27FC236}">
                <a16:creationId xmlns:a16="http://schemas.microsoft.com/office/drawing/2014/main" id="{814632F7-8B67-16B4-8386-F948A5F1B63D}"/>
              </a:ext>
            </a:extLst>
          </p:cNvPr>
          <p:cNvSpPr>
            <a:spLocks noGrp="1"/>
          </p:cNvSpPr>
          <p:nvPr>
            <p:ph type="subTitle" idx="1"/>
          </p:nvPr>
        </p:nvSpPr>
        <p:spPr/>
        <p:txBody>
          <a:bodyPr/>
          <a:lstStyle/>
          <a:p>
            <a:r>
              <a:rPr lang="en-US" dirty="0"/>
              <a:t>Kyle Lund</a:t>
            </a:r>
          </a:p>
        </p:txBody>
      </p:sp>
    </p:spTree>
    <p:extLst>
      <p:ext uri="{BB962C8B-B14F-4D97-AF65-F5344CB8AC3E}">
        <p14:creationId xmlns:p14="http://schemas.microsoft.com/office/powerpoint/2010/main" val="20036839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05C743E-5A86-52E5-ED3B-C6A8D5C21B8D}"/>
              </a:ext>
            </a:extLst>
          </p:cNvPr>
          <p:cNvSpPr>
            <a:spLocks noGrp="1"/>
          </p:cNvSpPr>
          <p:nvPr>
            <p:ph type="title"/>
          </p:nvPr>
        </p:nvSpPr>
        <p:spPr/>
        <p:txBody>
          <a:bodyPr/>
          <a:lstStyle/>
          <a:p>
            <a:r>
              <a:rPr lang="en-US" dirty="0"/>
              <a:t>Carl Benz</a:t>
            </a:r>
          </a:p>
        </p:txBody>
      </p:sp>
      <p:sp>
        <p:nvSpPr>
          <p:cNvPr id="5" name="Content Placeholder 4">
            <a:extLst>
              <a:ext uri="{FF2B5EF4-FFF2-40B4-BE49-F238E27FC236}">
                <a16:creationId xmlns:a16="http://schemas.microsoft.com/office/drawing/2014/main" id="{9E4D48D4-EABD-19B8-6B52-F67087284B25}"/>
              </a:ext>
            </a:extLst>
          </p:cNvPr>
          <p:cNvSpPr>
            <a:spLocks noGrp="1"/>
          </p:cNvSpPr>
          <p:nvPr>
            <p:ph sz="half" idx="1"/>
          </p:nvPr>
        </p:nvSpPr>
        <p:spPr/>
        <p:txBody>
          <a:bodyPr>
            <a:normAutofit lnSpcReduction="10000"/>
          </a:bodyPr>
          <a:lstStyle/>
          <a:p>
            <a:r>
              <a:rPr lang="en-US" dirty="0"/>
              <a:t>Born in </a:t>
            </a:r>
            <a:r>
              <a:rPr lang="en-US" dirty="0" err="1"/>
              <a:t>Mühlburg</a:t>
            </a:r>
            <a:endParaRPr lang="en-US" dirty="0"/>
          </a:p>
          <a:p>
            <a:r>
              <a:rPr lang="en-US" dirty="0"/>
              <a:t>Studied Mechanical Engineering at Karlsruhe Polytechnic</a:t>
            </a:r>
          </a:p>
          <a:p>
            <a:r>
              <a:rPr lang="en-US" dirty="0"/>
              <a:t>Founded his first firm in Mannheim in 1871</a:t>
            </a:r>
          </a:p>
          <a:p>
            <a:r>
              <a:rPr lang="en-US" dirty="0"/>
              <a:t>In 1883, Benz founded Benz &amp; Co. Rheinische </a:t>
            </a:r>
            <a:r>
              <a:rPr lang="en-US" dirty="0" err="1"/>
              <a:t>Gasmotoren</a:t>
            </a:r>
            <a:r>
              <a:rPr lang="en-US" dirty="0"/>
              <a:t>-Fabrik</a:t>
            </a:r>
          </a:p>
          <a:p>
            <a:r>
              <a:rPr lang="en-US" dirty="0"/>
              <a:t>Patent 37435</a:t>
            </a:r>
          </a:p>
        </p:txBody>
      </p:sp>
      <p:pic>
        <p:nvPicPr>
          <p:cNvPr id="8" name="Content Placeholder 7">
            <a:extLst>
              <a:ext uri="{FF2B5EF4-FFF2-40B4-BE49-F238E27FC236}">
                <a16:creationId xmlns:a16="http://schemas.microsoft.com/office/drawing/2014/main" id="{4473676C-7379-98B4-0E90-5C15D5B07A36}"/>
              </a:ext>
            </a:extLst>
          </p:cNvPr>
          <p:cNvPicPr>
            <a:picLocks noGrp="1" noChangeAspect="1"/>
          </p:cNvPicPr>
          <p:nvPr>
            <p:ph sz="half" idx="2"/>
          </p:nvPr>
        </p:nvPicPr>
        <p:blipFill>
          <a:blip r:embed="rId3"/>
          <a:stretch>
            <a:fillRect/>
          </a:stretch>
        </p:blipFill>
        <p:spPr>
          <a:xfrm>
            <a:off x="6172200" y="2163553"/>
            <a:ext cx="5181600" cy="3675481"/>
          </a:xfrm>
          <a:prstGeom prst="rect">
            <a:avLst/>
          </a:prstGeom>
        </p:spPr>
      </p:pic>
      <p:sp>
        <p:nvSpPr>
          <p:cNvPr id="9" name="TextBox 8">
            <a:extLst>
              <a:ext uri="{FF2B5EF4-FFF2-40B4-BE49-F238E27FC236}">
                <a16:creationId xmlns:a16="http://schemas.microsoft.com/office/drawing/2014/main" id="{C5690F06-3D85-F6DD-ECA5-F06B31255821}"/>
              </a:ext>
            </a:extLst>
          </p:cNvPr>
          <p:cNvSpPr txBox="1"/>
          <p:nvPr/>
        </p:nvSpPr>
        <p:spPr>
          <a:xfrm>
            <a:off x="6596742" y="5839034"/>
            <a:ext cx="4539343" cy="276999"/>
          </a:xfrm>
          <a:prstGeom prst="rect">
            <a:avLst/>
          </a:prstGeom>
          <a:noFill/>
        </p:spPr>
        <p:txBody>
          <a:bodyPr wrap="square" rtlCol="0">
            <a:spAutoFit/>
          </a:bodyPr>
          <a:lstStyle/>
          <a:p>
            <a:r>
              <a:rPr lang="en-US" sz="1200" dirty="0"/>
              <a:t>https://www.thoughtco.com/karl-benz-and-automobile-4077066</a:t>
            </a:r>
          </a:p>
        </p:txBody>
      </p:sp>
      <p:sp>
        <p:nvSpPr>
          <p:cNvPr id="10" name="TextBox 9">
            <a:extLst>
              <a:ext uri="{FF2B5EF4-FFF2-40B4-BE49-F238E27FC236}">
                <a16:creationId xmlns:a16="http://schemas.microsoft.com/office/drawing/2014/main" id="{2CAE018C-0283-B24B-AC24-EB9EA0E9B749}"/>
              </a:ext>
            </a:extLst>
          </p:cNvPr>
          <p:cNvSpPr txBox="1"/>
          <p:nvPr/>
        </p:nvSpPr>
        <p:spPr>
          <a:xfrm>
            <a:off x="907774" y="5977533"/>
            <a:ext cx="4724400" cy="461665"/>
          </a:xfrm>
          <a:prstGeom prst="rect">
            <a:avLst/>
          </a:prstGeom>
          <a:noFill/>
        </p:spPr>
        <p:txBody>
          <a:bodyPr wrap="square" rtlCol="0">
            <a:spAutoFit/>
          </a:bodyPr>
          <a:lstStyle/>
          <a:p>
            <a:r>
              <a:rPr lang="en-US" sz="1200" dirty="0"/>
              <a:t>https://group.mercedes-benz.com/company/tradition/founders-pioneers/carl-benz.html</a:t>
            </a:r>
          </a:p>
        </p:txBody>
      </p:sp>
    </p:spTree>
    <p:extLst>
      <p:ext uri="{BB962C8B-B14F-4D97-AF65-F5344CB8AC3E}">
        <p14:creationId xmlns:p14="http://schemas.microsoft.com/office/powerpoint/2010/main" val="2585839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E8651-FE5E-9998-2BF7-C08BA90C929F}"/>
              </a:ext>
            </a:extLst>
          </p:cNvPr>
          <p:cNvSpPr>
            <a:spLocks noGrp="1"/>
          </p:cNvSpPr>
          <p:nvPr>
            <p:ph type="title"/>
          </p:nvPr>
        </p:nvSpPr>
        <p:spPr/>
        <p:txBody>
          <a:bodyPr/>
          <a:lstStyle/>
          <a:p>
            <a:r>
              <a:rPr lang="en-US" dirty="0"/>
              <a:t>Mannheim</a:t>
            </a:r>
          </a:p>
        </p:txBody>
      </p:sp>
      <p:sp>
        <p:nvSpPr>
          <p:cNvPr id="3" name="Content Placeholder 2">
            <a:extLst>
              <a:ext uri="{FF2B5EF4-FFF2-40B4-BE49-F238E27FC236}">
                <a16:creationId xmlns:a16="http://schemas.microsoft.com/office/drawing/2014/main" id="{796732F3-1AC4-109C-74E0-FD955F388390}"/>
              </a:ext>
            </a:extLst>
          </p:cNvPr>
          <p:cNvSpPr>
            <a:spLocks noGrp="1"/>
          </p:cNvSpPr>
          <p:nvPr>
            <p:ph sz="half" idx="1"/>
          </p:nvPr>
        </p:nvSpPr>
        <p:spPr/>
        <p:txBody>
          <a:bodyPr/>
          <a:lstStyle/>
          <a:p>
            <a:r>
              <a:rPr lang="en-US" dirty="0"/>
              <a:t>Located on the Rhine between Frankfurt and Stuttgart</a:t>
            </a:r>
          </a:p>
          <a:p>
            <a:r>
              <a:rPr lang="en-US" dirty="0"/>
              <a:t>Can be traced back to a Roman fort</a:t>
            </a:r>
          </a:p>
          <a:p>
            <a:r>
              <a:rPr lang="en-US" dirty="0"/>
              <a:t>Officially founded by Fredrick IV in 1606</a:t>
            </a:r>
          </a:p>
          <a:p>
            <a:r>
              <a:rPr lang="en-US" dirty="0"/>
              <a:t>Harbor construction in 1834 turned the city into an industrial center</a:t>
            </a:r>
          </a:p>
        </p:txBody>
      </p:sp>
      <p:pic>
        <p:nvPicPr>
          <p:cNvPr id="2050" name="Picture 2">
            <a:extLst>
              <a:ext uri="{FF2B5EF4-FFF2-40B4-BE49-F238E27FC236}">
                <a16:creationId xmlns:a16="http://schemas.microsoft.com/office/drawing/2014/main" id="{B453D5E0-5C83-8808-2CAD-C68FC604EAE4}"/>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172200" y="1825625"/>
            <a:ext cx="5181600" cy="34544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8B6E17F-108B-4DF0-133A-B9D4AFB53748}"/>
              </a:ext>
            </a:extLst>
          </p:cNvPr>
          <p:cNvSpPr txBox="1"/>
          <p:nvPr/>
        </p:nvSpPr>
        <p:spPr>
          <a:xfrm>
            <a:off x="7620424" y="5280025"/>
            <a:ext cx="3043123" cy="276999"/>
          </a:xfrm>
          <a:prstGeom prst="rect">
            <a:avLst/>
          </a:prstGeom>
          <a:noFill/>
        </p:spPr>
        <p:txBody>
          <a:bodyPr wrap="square" rtlCol="0">
            <a:spAutoFit/>
          </a:bodyPr>
          <a:lstStyle/>
          <a:p>
            <a:r>
              <a:rPr lang="en-US" sz="1200" dirty="0"/>
              <a:t>https://www.meet-mannheim.de/en</a:t>
            </a:r>
          </a:p>
        </p:txBody>
      </p:sp>
      <p:sp>
        <p:nvSpPr>
          <p:cNvPr id="6" name="TextBox 5">
            <a:extLst>
              <a:ext uri="{FF2B5EF4-FFF2-40B4-BE49-F238E27FC236}">
                <a16:creationId xmlns:a16="http://schemas.microsoft.com/office/drawing/2014/main" id="{47459925-EEE8-8E76-DA67-AE8201BA657A}"/>
              </a:ext>
            </a:extLst>
          </p:cNvPr>
          <p:cNvSpPr txBox="1"/>
          <p:nvPr/>
        </p:nvSpPr>
        <p:spPr>
          <a:xfrm>
            <a:off x="6308034" y="5718313"/>
            <a:ext cx="1736035" cy="646331"/>
          </a:xfrm>
          <a:prstGeom prst="rect">
            <a:avLst/>
          </a:prstGeom>
          <a:noFill/>
        </p:spPr>
        <p:txBody>
          <a:bodyPr wrap="square" rtlCol="0">
            <a:spAutoFit/>
          </a:bodyPr>
          <a:lstStyle/>
          <a:p>
            <a:r>
              <a:rPr lang="en-US" dirty="0">
                <a:hlinkClick r:id="rId4"/>
              </a:rPr>
              <a:t>Google Earth</a:t>
            </a:r>
            <a:endParaRPr lang="en-US" dirty="0"/>
          </a:p>
          <a:p>
            <a:r>
              <a:rPr lang="en-US" dirty="0">
                <a:hlinkClick r:id="rId5"/>
              </a:rPr>
              <a:t>Google Maps</a:t>
            </a:r>
            <a:endParaRPr lang="en-US" dirty="0"/>
          </a:p>
        </p:txBody>
      </p:sp>
      <p:sp>
        <p:nvSpPr>
          <p:cNvPr id="7" name="TextBox 6">
            <a:extLst>
              <a:ext uri="{FF2B5EF4-FFF2-40B4-BE49-F238E27FC236}">
                <a16:creationId xmlns:a16="http://schemas.microsoft.com/office/drawing/2014/main" id="{B2C7E59E-099E-3622-BA1E-3CEFD3B0E84F}"/>
              </a:ext>
            </a:extLst>
          </p:cNvPr>
          <p:cNvSpPr txBox="1"/>
          <p:nvPr/>
        </p:nvSpPr>
        <p:spPr>
          <a:xfrm>
            <a:off x="1563757" y="5665304"/>
            <a:ext cx="3313043" cy="276999"/>
          </a:xfrm>
          <a:prstGeom prst="rect">
            <a:avLst/>
          </a:prstGeom>
          <a:noFill/>
        </p:spPr>
        <p:txBody>
          <a:bodyPr wrap="square" rtlCol="0">
            <a:spAutoFit/>
          </a:bodyPr>
          <a:lstStyle/>
          <a:p>
            <a:r>
              <a:rPr lang="en-US" sz="1200" dirty="0"/>
              <a:t>https://www.britannica.com/place/Mannheim</a:t>
            </a:r>
          </a:p>
        </p:txBody>
      </p:sp>
    </p:spTree>
    <p:extLst>
      <p:ext uri="{BB962C8B-B14F-4D97-AF65-F5344CB8AC3E}">
        <p14:creationId xmlns:p14="http://schemas.microsoft.com/office/powerpoint/2010/main" val="1323676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54D53-31C3-DEBF-F744-494E72C15FBC}"/>
              </a:ext>
            </a:extLst>
          </p:cNvPr>
          <p:cNvSpPr>
            <a:spLocks noGrp="1"/>
          </p:cNvSpPr>
          <p:nvPr>
            <p:ph type="title"/>
          </p:nvPr>
        </p:nvSpPr>
        <p:spPr/>
        <p:txBody>
          <a:bodyPr/>
          <a:lstStyle/>
          <a:p>
            <a:r>
              <a:rPr lang="en-US" dirty="0"/>
              <a:t>Industrialization</a:t>
            </a:r>
          </a:p>
        </p:txBody>
      </p:sp>
      <p:sp>
        <p:nvSpPr>
          <p:cNvPr id="3" name="Content Placeholder 2">
            <a:extLst>
              <a:ext uri="{FF2B5EF4-FFF2-40B4-BE49-F238E27FC236}">
                <a16:creationId xmlns:a16="http://schemas.microsoft.com/office/drawing/2014/main" id="{698C9400-E250-02BD-847E-82A8EF28F9F8}"/>
              </a:ext>
            </a:extLst>
          </p:cNvPr>
          <p:cNvSpPr>
            <a:spLocks noGrp="1"/>
          </p:cNvSpPr>
          <p:nvPr>
            <p:ph sz="half" idx="1"/>
          </p:nvPr>
        </p:nvSpPr>
        <p:spPr/>
        <p:txBody>
          <a:bodyPr/>
          <a:lstStyle/>
          <a:p>
            <a:r>
              <a:rPr lang="en-US" dirty="0"/>
              <a:t>Collision between the industrial revolution and German unification</a:t>
            </a:r>
          </a:p>
          <a:p>
            <a:r>
              <a:rPr lang="en-US" dirty="0"/>
              <a:t>Steel and rail</a:t>
            </a:r>
          </a:p>
          <a:p>
            <a:r>
              <a:rPr lang="en-US" dirty="0"/>
              <a:t>New German identity</a:t>
            </a:r>
          </a:p>
        </p:txBody>
      </p:sp>
      <p:sp>
        <p:nvSpPr>
          <p:cNvPr id="5" name="TextBox 4">
            <a:extLst>
              <a:ext uri="{FF2B5EF4-FFF2-40B4-BE49-F238E27FC236}">
                <a16:creationId xmlns:a16="http://schemas.microsoft.com/office/drawing/2014/main" id="{0A2E26E4-E33C-C7E0-0EBD-D01FC5853964}"/>
              </a:ext>
            </a:extLst>
          </p:cNvPr>
          <p:cNvSpPr txBox="1"/>
          <p:nvPr/>
        </p:nvSpPr>
        <p:spPr>
          <a:xfrm>
            <a:off x="7245558" y="6134894"/>
            <a:ext cx="3552314" cy="461665"/>
          </a:xfrm>
          <a:prstGeom prst="rect">
            <a:avLst/>
          </a:prstGeom>
          <a:noFill/>
        </p:spPr>
        <p:txBody>
          <a:bodyPr wrap="square" rtlCol="0">
            <a:spAutoFit/>
          </a:bodyPr>
          <a:lstStyle/>
          <a:p>
            <a:r>
              <a:rPr lang="en-US" sz="1200" dirty="0"/>
              <a:t>https://www.erih.net/how-it-started/industrial-history-of-european-countries/germany</a:t>
            </a:r>
          </a:p>
        </p:txBody>
      </p:sp>
      <p:pic>
        <p:nvPicPr>
          <p:cNvPr id="3076" name="Picture 4">
            <a:extLst>
              <a:ext uri="{FF2B5EF4-FFF2-40B4-BE49-F238E27FC236}">
                <a16:creationId xmlns:a16="http://schemas.microsoft.com/office/drawing/2014/main" id="{9720CA7A-BD22-E750-5C6A-CCE3C9AE8C8E}"/>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629400" y="1867694"/>
            <a:ext cx="4267200" cy="42672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EEF02A6-96C0-71CA-6F3C-4AEA2F7B1E39}"/>
              </a:ext>
            </a:extLst>
          </p:cNvPr>
          <p:cNvSpPr txBox="1"/>
          <p:nvPr/>
        </p:nvSpPr>
        <p:spPr>
          <a:xfrm>
            <a:off x="636104" y="4105272"/>
            <a:ext cx="4874150" cy="646331"/>
          </a:xfrm>
          <a:prstGeom prst="rect">
            <a:avLst/>
          </a:prstGeom>
          <a:noFill/>
        </p:spPr>
        <p:txBody>
          <a:bodyPr wrap="square" rtlCol="0">
            <a:spAutoFit/>
          </a:bodyPr>
          <a:lstStyle/>
          <a:p>
            <a:r>
              <a:rPr lang="en-US" sz="1200" dirty="0"/>
              <a:t>https://www.cambridge.org/core/journals/journal-of-economic-history/article/railways-growth-and-industrialization-in-a-developing-german-economy-18291910/0A37B4DAC9EEDBF8FF82836A706CDE2E</a:t>
            </a:r>
          </a:p>
        </p:txBody>
      </p:sp>
    </p:spTree>
    <p:extLst>
      <p:ext uri="{BB962C8B-B14F-4D97-AF65-F5344CB8AC3E}">
        <p14:creationId xmlns:p14="http://schemas.microsoft.com/office/powerpoint/2010/main" val="2849654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3F11C-6C73-4287-3FC7-295DA341F1F1}"/>
              </a:ext>
            </a:extLst>
          </p:cNvPr>
          <p:cNvSpPr>
            <a:spLocks noGrp="1"/>
          </p:cNvSpPr>
          <p:nvPr>
            <p:ph type="title"/>
          </p:nvPr>
        </p:nvSpPr>
        <p:spPr/>
        <p:txBody>
          <a:bodyPr/>
          <a:lstStyle/>
          <a:p>
            <a:r>
              <a:rPr lang="en-US" dirty="0"/>
              <a:t>Personal Interest</a:t>
            </a:r>
          </a:p>
        </p:txBody>
      </p:sp>
      <p:sp>
        <p:nvSpPr>
          <p:cNvPr id="3" name="Content Placeholder 2">
            <a:extLst>
              <a:ext uri="{FF2B5EF4-FFF2-40B4-BE49-F238E27FC236}">
                <a16:creationId xmlns:a16="http://schemas.microsoft.com/office/drawing/2014/main" id="{FA40ACE3-CCF9-6713-587F-CBE7D9BA00D2}"/>
              </a:ext>
            </a:extLst>
          </p:cNvPr>
          <p:cNvSpPr>
            <a:spLocks noGrp="1"/>
          </p:cNvSpPr>
          <p:nvPr>
            <p:ph sz="half" idx="1"/>
          </p:nvPr>
        </p:nvSpPr>
        <p:spPr/>
        <p:txBody>
          <a:bodyPr/>
          <a:lstStyle/>
          <a:p>
            <a:r>
              <a:rPr lang="en-US" dirty="0"/>
              <a:t>Crossroad of two interests</a:t>
            </a:r>
          </a:p>
          <a:p>
            <a:r>
              <a:rPr lang="en-US" dirty="0"/>
              <a:t>Engineering</a:t>
            </a:r>
          </a:p>
          <a:p>
            <a:r>
              <a:rPr lang="en-US" dirty="0"/>
              <a:t>Societal development</a:t>
            </a:r>
          </a:p>
        </p:txBody>
      </p:sp>
      <p:pic>
        <p:nvPicPr>
          <p:cNvPr id="4098" name="Picture 2">
            <a:extLst>
              <a:ext uri="{FF2B5EF4-FFF2-40B4-BE49-F238E27FC236}">
                <a16:creationId xmlns:a16="http://schemas.microsoft.com/office/drawing/2014/main" id="{BD80F490-D244-6C1B-D3B2-8DD7B6912618}"/>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172200" y="2551559"/>
            <a:ext cx="5181600" cy="289946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BB7BFE3-D76F-A575-E3C5-4438A02903F7}"/>
              </a:ext>
            </a:extLst>
          </p:cNvPr>
          <p:cNvSpPr txBox="1"/>
          <p:nvPr/>
        </p:nvSpPr>
        <p:spPr>
          <a:xfrm>
            <a:off x="6929333" y="5451028"/>
            <a:ext cx="3667333" cy="276999"/>
          </a:xfrm>
          <a:prstGeom prst="rect">
            <a:avLst/>
          </a:prstGeom>
          <a:noFill/>
        </p:spPr>
        <p:txBody>
          <a:bodyPr wrap="square" rtlCol="0">
            <a:spAutoFit/>
          </a:bodyPr>
          <a:lstStyle/>
          <a:p>
            <a:r>
              <a:rPr lang="en-US" sz="1200" dirty="0"/>
              <a:t>https://futia.edu.ng/course/mechanical-engineering/</a:t>
            </a:r>
          </a:p>
        </p:txBody>
      </p:sp>
    </p:spTree>
    <p:extLst>
      <p:ext uri="{BB962C8B-B14F-4D97-AF65-F5344CB8AC3E}">
        <p14:creationId xmlns:p14="http://schemas.microsoft.com/office/powerpoint/2010/main" val="14161750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D50E113-321E-E33F-6AEC-2928188BBEE0}"/>
              </a:ext>
            </a:extLst>
          </p:cNvPr>
          <p:cNvSpPr>
            <a:spLocks noGrp="1"/>
          </p:cNvSpPr>
          <p:nvPr>
            <p:ph type="title"/>
          </p:nvPr>
        </p:nvSpPr>
        <p:spPr/>
        <p:txBody>
          <a:bodyPr/>
          <a:lstStyle/>
          <a:p>
            <a:r>
              <a:rPr lang="en-US" dirty="0"/>
              <a:t>Sources</a:t>
            </a:r>
          </a:p>
        </p:txBody>
      </p:sp>
      <p:sp>
        <p:nvSpPr>
          <p:cNvPr id="6" name="Content Placeholder 5">
            <a:extLst>
              <a:ext uri="{FF2B5EF4-FFF2-40B4-BE49-F238E27FC236}">
                <a16:creationId xmlns:a16="http://schemas.microsoft.com/office/drawing/2014/main" id="{9775768E-F441-7544-3017-B0BDD24A8AFA}"/>
              </a:ext>
            </a:extLst>
          </p:cNvPr>
          <p:cNvSpPr>
            <a:spLocks noGrp="1"/>
          </p:cNvSpPr>
          <p:nvPr>
            <p:ph idx="1"/>
          </p:nvPr>
        </p:nvSpPr>
        <p:spPr>
          <a:xfrm>
            <a:off x="838200" y="1542554"/>
            <a:ext cx="10515600" cy="5136542"/>
          </a:xfrm>
        </p:spPr>
        <p:txBody>
          <a:bodyPr>
            <a:normAutofit fontScale="62500" lnSpcReduction="20000"/>
          </a:bodyPr>
          <a:lstStyle/>
          <a:p>
            <a:r>
              <a:rPr lang="en-US" dirty="0"/>
              <a:t>Bellis, Mary. “Biography of Karl Benz.” ThoughtCo, 6 May 2025, </a:t>
            </a:r>
            <a:r>
              <a:rPr lang="en-US" dirty="0">
                <a:hlinkClick r:id="rId2"/>
              </a:rPr>
              <a:t>www.thoughtco.com/karl-benz-and-automobile-4077066. Accessed 17 Oct. 2025</a:t>
            </a:r>
            <a:r>
              <a:rPr lang="en-US" dirty="0"/>
              <a:t>.</a:t>
            </a:r>
          </a:p>
          <a:p>
            <a:r>
              <a:rPr lang="en-US" dirty="0"/>
              <a:t>Braun, Sebastian Till, and Richard Franke. “Railways, Growth, and Industrialization in a developing German economy, 1829–1910.” The Journal of Economic History, vol. 82, no. 4, Dec. 2022, pp. 1183–221. </a:t>
            </a:r>
            <a:r>
              <a:rPr lang="en-US" dirty="0">
                <a:hlinkClick r:id="rId3"/>
              </a:rPr>
              <a:t>https://doi.org/10.1017/s0022050722000377</a:t>
            </a:r>
            <a:r>
              <a:rPr lang="en-US" dirty="0"/>
              <a:t>.</a:t>
            </a:r>
          </a:p>
          <a:p>
            <a:r>
              <a:rPr lang="en-US" dirty="0"/>
              <a:t>Duggan, et al. “Germany | Facts, Geography, Maps, and History.” Encyclopedia Britannica, 17 Oct. 2025, www.britannica.com/place/Germany/The-economy-1890-1914. Accessed 17 Oct. 2025.</a:t>
            </a:r>
          </a:p>
          <a:p>
            <a:r>
              <a:rPr lang="en-US" dirty="0"/>
              <a:t>Futia. “BEng in Mechanical Engineering.” Federal University of Technology Ikot Abasi - Welcome to FUTIA, 26 Apr. 2024, futia.edu.ng/course/mechanical-engineering. Accessed 17 Oct. 2025.</a:t>
            </a:r>
          </a:p>
          <a:p>
            <a:r>
              <a:rPr lang="en-US" dirty="0"/>
              <a:t>“Germany.” European Route of Industrial Heritage, www.erih.net/how-it-started/industrial-history-of-european-countries/germany. Accessed 17 Oct. 2025.</a:t>
            </a:r>
          </a:p>
          <a:p>
            <a:r>
              <a:rPr lang="en-US" dirty="0"/>
              <a:t>“Meet Mannheim.” Meet Mannheim, www.meet-mannheim.de/en. Accessed 17 Oct. 2025.</a:t>
            </a:r>
          </a:p>
          <a:p>
            <a:r>
              <a:rPr lang="en-US" dirty="0"/>
              <a:t>Mercedes-Benz. “Carl Benz.” Mercedes-Benz Group, group.mercedes-benz.com/company/tradition/founders-pioneers/carl-benz.html. Accessed 17 Oct. 2025.</a:t>
            </a:r>
          </a:p>
          <a:p>
            <a:r>
              <a:rPr lang="en-US" dirty="0"/>
              <a:t>The Editors of </a:t>
            </a:r>
            <a:r>
              <a:rPr lang="en-US" dirty="0" err="1"/>
              <a:t>Encyclopaedia</a:t>
            </a:r>
            <a:r>
              <a:rPr lang="en-US" dirty="0"/>
              <a:t> Britannica. “Mannheim | Germany, Map, and History.” Encyclopedia Britannica, 20 July 1998, </a:t>
            </a:r>
            <a:r>
              <a:rPr lang="en-US" dirty="0">
                <a:hlinkClick r:id="rId4"/>
              </a:rPr>
              <a:t>www.britannica.com/place/Mannheim</a:t>
            </a:r>
            <a:r>
              <a:rPr lang="en-US" dirty="0"/>
              <a:t>.</a:t>
            </a:r>
          </a:p>
          <a:p>
            <a:r>
              <a:rPr lang="en-US" dirty="0"/>
              <a:t>The National Inventors Hall of Fame. “Carl Benz.” The National Inventors Hall of Fame, 2025, www.invent.org/inductees/carl-benz. Accessed 17 Oct. 2025.</a:t>
            </a:r>
          </a:p>
          <a:p>
            <a:r>
              <a:rPr lang="en-US" dirty="0"/>
              <a:t>Turner, et al. “Germany | Facts, Geography, Maps, and History.” Encyclopedia Britannica, 17 Oct. 2025, www.britannica.com/place/Germany/The-economy-1890-1914. Accessed 17 Oct. 2025.</a:t>
            </a:r>
          </a:p>
        </p:txBody>
      </p:sp>
    </p:spTree>
    <p:extLst>
      <p:ext uri="{BB962C8B-B14F-4D97-AF65-F5344CB8AC3E}">
        <p14:creationId xmlns:p14="http://schemas.microsoft.com/office/powerpoint/2010/main" val="1860719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104</TotalTime>
  <Words>1622</Words>
  <Application>Microsoft Office PowerPoint</Application>
  <PresentationFormat>Widescreen</PresentationFormat>
  <Paragraphs>61</Paragraphs>
  <Slides>6</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Woche 8: Cultural Presentation</vt:lpstr>
      <vt:lpstr>Carl Benz</vt:lpstr>
      <vt:lpstr>Mannheim</vt:lpstr>
      <vt:lpstr>Industrialization</vt:lpstr>
      <vt:lpstr>Personal Interest</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Kyle Lund</dc:creator>
  <cp:lastModifiedBy>Kyle Lund</cp:lastModifiedBy>
  <cp:revision>11</cp:revision>
  <dcterms:created xsi:type="dcterms:W3CDTF">2025-10-17T16:38:11Z</dcterms:created>
  <dcterms:modified xsi:type="dcterms:W3CDTF">2025-10-17T18:23:05Z</dcterms:modified>
</cp:coreProperties>
</file>