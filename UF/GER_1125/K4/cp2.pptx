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60" r:id="rId4"/>
    <p:sldId id="261" r:id="rId5"/>
    <p:sldId id="262" r:id="rId6"/>
    <p:sldId id="259" r:id="rId7"/>
    <p:sldId id="25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293" autoAdjust="0"/>
  </p:normalViewPr>
  <p:slideViewPr>
    <p:cSldViewPr snapToGrid="0">
      <p:cViewPr varScale="1">
        <p:scale>
          <a:sx n="59" d="100"/>
          <a:sy n="59" d="100"/>
        </p:scale>
        <p:origin x="1589"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5BBCD3-0360-4CED-B60F-BD32558E3028}" type="datetimeFigureOut">
              <a:rPr lang="en-US" smtClean="0"/>
              <a:t>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3E031-4F80-4B26-AFD7-2907F1894819}" type="slidenum">
              <a:rPr lang="en-US" smtClean="0"/>
              <a:t>‹#›</a:t>
            </a:fld>
            <a:endParaRPr lang="en-US"/>
          </a:p>
        </p:txBody>
      </p:sp>
    </p:spTree>
    <p:extLst>
      <p:ext uri="{BB962C8B-B14F-4D97-AF65-F5344CB8AC3E}">
        <p14:creationId xmlns:p14="http://schemas.microsoft.com/office/powerpoint/2010/main" val="2497326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Butterkäse</a:t>
            </a:r>
            <a:r>
              <a:rPr lang="en-US" dirty="0"/>
              <a:t>, also known as </a:t>
            </a:r>
            <a:r>
              <a:rPr lang="en-US" dirty="0" err="1"/>
              <a:t>damenkäse</a:t>
            </a:r>
            <a:r>
              <a:rPr lang="en-US" dirty="0"/>
              <a:t>, or ladies cheese, is a mild tasting German cheese whose history dates back to the early 20</a:t>
            </a:r>
            <a:r>
              <a:rPr lang="en-US" baseline="30000" dirty="0"/>
              <a:t>th</a:t>
            </a:r>
            <a:r>
              <a:rPr lang="en-US" dirty="0"/>
              <a:t> century. In 1906, an Italian cheese called Bel Paese became popular, and after the name was trademarked, German cheesemakers attempted to make their own version. In 1928, </a:t>
            </a:r>
            <a:r>
              <a:rPr lang="de-DE" dirty="0"/>
              <a:t>the Staatliche Molkerei Weihenstephan dairy company developed </a:t>
            </a:r>
            <a:r>
              <a:rPr lang="en-US" dirty="0" err="1"/>
              <a:t>Butterkäse</a:t>
            </a:r>
            <a:r>
              <a:rPr lang="en-US" dirty="0"/>
              <a:t>, a mild tasting, inexpensive cheese that was easy to use on sandwiches and other quick-to-prepare foods. It quickly became popular among the general public, but especially amongst children, as this was unlike the stinky cheeses that Germans are typically known for.</a:t>
            </a:r>
          </a:p>
        </p:txBody>
      </p:sp>
      <p:sp>
        <p:nvSpPr>
          <p:cNvPr id="4" name="Slide Number Placeholder 3"/>
          <p:cNvSpPr>
            <a:spLocks noGrp="1"/>
          </p:cNvSpPr>
          <p:nvPr>
            <p:ph type="sldNum" sz="quarter" idx="5"/>
          </p:nvPr>
        </p:nvSpPr>
        <p:spPr/>
        <p:txBody>
          <a:bodyPr/>
          <a:lstStyle/>
          <a:p>
            <a:fld id="{BC53E031-4F80-4B26-AFD7-2907F1894819}" type="slidenum">
              <a:rPr lang="en-US" smtClean="0"/>
              <a:t>2</a:t>
            </a:fld>
            <a:endParaRPr lang="en-US"/>
          </a:p>
        </p:txBody>
      </p:sp>
    </p:spTree>
    <p:extLst>
      <p:ext uri="{BB962C8B-B14F-4D97-AF65-F5344CB8AC3E}">
        <p14:creationId xmlns:p14="http://schemas.microsoft.com/office/powerpoint/2010/main" val="3762364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was one dish that made people think of Germany, it would be Schnitzel. Broadly speaking schnitzel is a thin or flattened piece of meat, which is breaded with flour, eggs, and breadcrumbs, and then either pan or deep fried. Schnitzel can be made from a variety of meats. The traditional </a:t>
            </a:r>
            <a:r>
              <a:rPr lang="en-US" dirty="0" err="1"/>
              <a:t>Weinerschnitzel</a:t>
            </a:r>
            <a:r>
              <a:rPr lang="en-US" dirty="0"/>
              <a:t> uses veal, but you can also use pork, chicken, or less commonly, beef. It’s a relatively simple dish to make and has the advantage that it pairs well with a variety of side dishes. </a:t>
            </a:r>
          </a:p>
          <a:p>
            <a:endParaRPr lang="en-US" dirty="0"/>
          </a:p>
          <a:p>
            <a:r>
              <a:rPr lang="en-US" dirty="0"/>
              <a:t>The origins of this dish date back to roman times, as there are written records that show evidence of similar dishes. Eventually, modern Italians developed their own version known as the </a:t>
            </a:r>
            <a:r>
              <a:rPr lang="en-US" dirty="0" err="1"/>
              <a:t>Cotoletta</a:t>
            </a:r>
            <a:r>
              <a:rPr lang="en-US" dirty="0"/>
              <a:t> Alla Milanese. And then Austria developed their own approach with the </a:t>
            </a:r>
            <a:r>
              <a:rPr lang="en-US" dirty="0" err="1"/>
              <a:t>Weinerschnitzel</a:t>
            </a:r>
            <a:r>
              <a:rPr lang="en-US" dirty="0"/>
              <a:t>, which is term that is still trademarked and protected under Austrian laws today. Much like the black forest cake, this dish followed Germans as they moved around the world. German immigrants in Texas developed a version using beef and </a:t>
            </a:r>
            <a:r>
              <a:rPr lang="en-US" dirty="0" err="1"/>
              <a:t>emphazied</a:t>
            </a:r>
            <a:r>
              <a:rPr lang="en-US" dirty="0"/>
              <a:t> hammering the meat flat in order to tenderize it. Immigrants to Israel commonly used either chicken or turkey for their schnitzel. And today, other countries have developed their own approaches. For example, in Egypt it is known as </a:t>
            </a:r>
            <a:r>
              <a:rPr lang="en-US" dirty="0" err="1"/>
              <a:t>frakh</a:t>
            </a:r>
            <a:r>
              <a:rPr lang="en-US" dirty="0"/>
              <a:t> pane, and is commonly served with French fries. My own personal favorite version is </a:t>
            </a:r>
            <a:r>
              <a:rPr lang="en-US" dirty="0" err="1"/>
              <a:t>jagerschnitzel</a:t>
            </a:r>
            <a:r>
              <a:rPr lang="en-US" dirty="0"/>
              <a:t>, which covers the meat in a mushroom and bacon based sauce.</a:t>
            </a:r>
          </a:p>
        </p:txBody>
      </p:sp>
      <p:sp>
        <p:nvSpPr>
          <p:cNvPr id="4" name="Slide Number Placeholder 3"/>
          <p:cNvSpPr>
            <a:spLocks noGrp="1"/>
          </p:cNvSpPr>
          <p:nvPr>
            <p:ph type="sldNum" sz="quarter" idx="5"/>
          </p:nvPr>
        </p:nvSpPr>
        <p:spPr/>
        <p:txBody>
          <a:bodyPr/>
          <a:lstStyle/>
          <a:p>
            <a:fld id="{BC53E031-4F80-4B26-AFD7-2907F1894819}" type="slidenum">
              <a:rPr lang="en-US" smtClean="0"/>
              <a:t>3</a:t>
            </a:fld>
            <a:endParaRPr lang="en-US"/>
          </a:p>
        </p:txBody>
      </p:sp>
    </p:spTree>
    <p:extLst>
      <p:ext uri="{BB962C8B-B14F-4D97-AF65-F5344CB8AC3E}">
        <p14:creationId xmlns:p14="http://schemas.microsoft.com/office/powerpoint/2010/main" val="990855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every good schnitzel needs some side dishes, and the first one I choose was spätzle. This is a Swabian dish that is somewhere between a dumpling and a noodle. Like pasta, it is typically made with a simple combination of flour, egg, and water which is then seasoned with salt and other flavors. The mixture results in a somewhat runny batter that is then poured in thin strings into boiling water using a special tool. Once it’s cooked, almost anything can be added to the spätzle to make it a proper side dish or even a main meal.</a:t>
            </a:r>
          </a:p>
          <a:p>
            <a:endParaRPr lang="en-US" dirty="0"/>
          </a:p>
          <a:p>
            <a:r>
              <a:rPr lang="en-US" dirty="0"/>
              <a:t>The early record of spätzle are seen in painting which have been traced back to 1725. These depict medieval knights with their spätzle boards. Spätzle was and still is an important part of Swabian culture, with one poet going so far as to say that spätzle is the “”alpha and omega of Swabian cuisine.” Additionally, the history of the seven Swabians, a novel first published in 1827 describes Swabian mealtime habits as “one eats daily five times a day, five times soup, and twice to </a:t>
            </a:r>
            <a:r>
              <a:rPr lang="en-US" dirty="0" err="1"/>
              <a:t>Knöpfle</a:t>
            </a:r>
            <a:r>
              <a:rPr lang="en-US" dirty="0"/>
              <a:t> or Spätzle.” </a:t>
            </a:r>
            <a:r>
              <a:rPr lang="en-US" dirty="0" err="1"/>
              <a:t>Knöpfle</a:t>
            </a:r>
            <a:r>
              <a:rPr lang="en-US" dirty="0"/>
              <a:t> is just spätzle in a small round form. And finally, while spätzle is native to Germany, it to has spread around the world and now has different names in other countries, such as </a:t>
            </a:r>
            <a:r>
              <a:rPr lang="en-US" dirty="0" err="1"/>
              <a:t>Glauska</a:t>
            </a:r>
            <a:r>
              <a:rPr lang="en-US" dirty="0"/>
              <a:t>, </a:t>
            </a:r>
            <a:r>
              <a:rPr lang="en-US" dirty="0" err="1"/>
              <a:t>Chnophli</a:t>
            </a:r>
            <a:r>
              <a:rPr lang="en-US" dirty="0"/>
              <a:t>, and </a:t>
            </a:r>
            <a:r>
              <a:rPr lang="en-US" dirty="0" err="1"/>
              <a:t>Halusky</a:t>
            </a:r>
            <a:r>
              <a:rPr lang="en-US" dirty="0"/>
              <a:t>.</a:t>
            </a:r>
          </a:p>
        </p:txBody>
      </p:sp>
      <p:sp>
        <p:nvSpPr>
          <p:cNvPr id="4" name="Slide Number Placeholder 3"/>
          <p:cNvSpPr>
            <a:spLocks noGrp="1"/>
          </p:cNvSpPr>
          <p:nvPr>
            <p:ph type="sldNum" sz="quarter" idx="5"/>
          </p:nvPr>
        </p:nvSpPr>
        <p:spPr/>
        <p:txBody>
          <a:bodyPr/>
          <a:lstStyle/>
          <a:p>
            <a:fld id="{BC53E031-4F80-4B26-AFD7-2907F1894819}" type="slidenum">
              <a:rPr lang="en-US" smtClean="0"/>
              <a:t>4</a:t>
            </a:fld>
            <a:endParaRPr lang="en-US"/>
          </a:p>
        </p:txBody>
      </p:sp>
    </p:spTree>
    <p:extLst>
      <p:ext uri="{BB962C8B-B14F-4D97-AF65-F5344CB8AC3E}">
        <p14:creationId xmlns:p14="http://schemas.microsoft.com/office/powerpoint/2010/main" val="2718101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 of course need to have a vegetable for our meal. And in Germany, while the fall is marked by apples, the spring is dominated by asparagus. While we in the US are likely more familiar with the green variety that we can find year-round, Germans prefer the white variety. This version is in season from about mid-April to June 24th, this time is affectionately referred to as </a:t>
            </a:r>
            <a:r>
              <a:rPr lang="en-US" dirty="0" err="1"/>
              <a:t>Spargelzeit</a:t>
            </a:r>
            <a:r>
              <a:rPr lang="en-US" dirty="0"/>
              <a:t>. Asparagus was considered a luxury vegetable and eaten as far back as 2000 BC throughout the Mediterranean. But make no mistake, no nation loves asparagus like the Germans. I could point out that during </a:t>
            </a:r>
            <a:r>
              <a:rPr lang="en-US" dirty="0" err="1"/>
              <a:t>Spargelzeit</a:t>
            </a:r>
            <a:r>
              <a:rPr lang="en-US" dirty="0"/>
              <a:t>, the average German eats asparagus daily. Or that the average yearly consumption in Germany is over 70,000 tons. Or even that four different German states have official “asparagus routes.” And those are all useful metrics but what stood out for me is that when I was doing my research, I did a search for “Germany’s favorite vegetable”, and the top result was a </a:t>
            </a:r>
            <a:r>
              <a:rPr lang="en-US" dirty="0" err="1"/>
              <a:t>youtube</a:t>
            </a:r>
            <a:r>
              <a:rPr lang="en-US" dirty="0"/>
              <a:t> video simply titled “Asparagus: A love poem for Germany's favorite vegetable”. So, yeah, the vegetable referred to as “</a:t>
            </a:r>
            <a:r>
              <a:rPr lang="en-US" dirty="0" err="1"/>
              <a:t>Weißes</a:t>
            </a:r>
            <a:r>
              <a:rPr lang="en-US" dirty="0"/>
              <a:t> Gold”, or white gold, is a big deal over there.</a:t>
            </a:r>
          </a:p>
        </p:txBody>
      </p:sp>
      <p:sp>
        <p:nvSpPr>
          <p:cNvPr id="4" name="Slide Number Placeholder 3"/>
          <p:cNvSpPr>
            <a:spLocks noGrp="1"/>
          </p:cNvSpPr>
          <p:nvPr>
            <p:ph type="sldNum" sz="quarter" idx="5"/>
          </p:nvPr>
        </p:nvSpPr>
        <p:spPr/>
        <p:txBody>
          <a:bodyPr/>
          <a:lstStyle/>
          <a:p>
            <a:fld id="{BC53E031-4F80-4B26-AFD7-2907F1894819}" type="slidenum">
              <a:rPr lang="en-US" smtClean="0"/>
              <a:t>5</a:t>
            </a:fld>
            <a:endParaRPr lang="en-US"/>
          </a:p>
        </p:txBody>
      </p:sp>
    </p:spTree>
    <p:extLst>
      <p:ext uri="{BB962C8B-B14F-4D97-AF65-F5344CB8AC3E}">
        <p14:creationId xmlns:p14="http://schemas.microsoft.com/office/powerpoint/2010/main" val="12764638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Black Forest cake is a dessert consisting of layers of chocolate sponge cake, whipped cream, and cherries. It is then traditionally garnished with chocolate shavings and more cherries on top. This cake originated in the Black Forest region of Germany, hence its name, and incorporates the flavors and ingredients found in the Black Forest, such as cherries and Kirsch, a cherry brandy. While the exact origins are unknown, this treat is believed to have evolved from an older dessert known as the "Schwarzwälder </a:t>
            </a:r>
            <a:r>
              <a:rPr lang="en-US" sz="1200" b="0" i="0" kern="1200" dirty="0" err="1">
                <a:solidFill>
                  <a:schemeClr val="tx1"/>
                </a:solidFill>
                <a:effectLst/>
                <a:latin typeface="+mn-lt"/>
                <a:ea typeface="+mn-ea"/>
                <a:cs typeface="+mn-cs"/>
              </a:rPr>
              <a:t>Kirschwasser</a:t>
            </a:r>
            <a:r>
              <a:rPr lang="en-US" sz="1200" b="0" i="0" kern="1200" dirty="0">
                <a:solidFill>
                  <a:schemeClr val="tx1"/>
                </a:solidFill>
                <a:effectLst/>
                <a:latin typeface="+mn-lt"/>
                <a:ea typeface="+mn-ea"/>
                <a:cs typeface="+mn-cs"/>
              </a:rPr>
              <a:t> Torte," which translates to Black Forest cherry brandy torte. This dessert was made with layers of chocolate cake soaked in Kirsch and topped with cherries. As </a:t>
            </a:r>
            <a:r>
              <a:rPr lang="en-US" sz="1200" b="0" i="0" kern="1200" dirty="0" err="1">
                <a:solidFill>
                  <a:schemeClr val="tx1"/>
                </a:solidFill>
                <a:effectLst/>
                <a:latin typeface="+mn-lt"/>
                <a:ea typeface="+mn-ea"/>
                <a:cs typeface="+mn-cs"/>
              </a:rPr>
              <a:t>germans</a:t>
            </a:r>
            <a:r>
              <a:rPr lang="en-US" sz="1200" b="0" i="0" kern="1200" dirty="0">
                <a:solidFill>
                  <a:schemeClr val="tx1"/>
                </a:solidFill>
                <a:effectLst/>
                <a:latin typeface="+mn-lt"/>
                <a:ea typeface="+mn-ea"/>
                <a:cs typeface="+mn-cs"/>
              </a:rPr>
              <a:t> emigrated throughout the 18th to 20</a:t>
            </a:r>
            <a:r>
              <a:rPr lang="en-US" sz="1200" b="0" i="0" kern="1200" baseline="30000" dirty="0">
                <a:solidFill>
                  <a:schemeClr val="tx1"/>
                </a:solidFill>
                <a:effectLst/>
                <a:latin typeface="+mn-lt"/>
                <a:ea typeface="+mn-ea"/>
                <a:cs typeface="+mn-cs"/>
              </a:rPr>
              <a:t>th</a:t>
            </a:r>
            <a:r>
              <a:rPr lang="en-US" sz="1200" b="0" i="0" kern="1200" dirty="0">
                <a:solidFill>
                  <a:schemeClr val="tx1"/>
                </a:solidFill>
                <a:effectLst/>
                <a:latin typeface="+mn-lt"/>
                <a:ea typeface="+mn-ea"/>
                <a:cs typeface="+mn-cs"/>
              </a:rPr>
              <a:t> centuries, they took this cake with them, and today versions of this cake are considered signature dishes all across the world, spreading to countries such as Trinidad, Pakistan, Chile, Lebanon, Nepal, and Fiji. Odds are, if you ask someone to draw a cake, they’ll draw a black forest cake.</a:t>
            </a:r>
            <a:endParaRPr lang="en-US" dirty="0"/>
          </a:p>
        </p:txBody>
      </p:sp>
      <p:sp>
        <p:nvSpPr>
          <p:cNvPr id="4" name="Slide Number Placeholder 3"/>
          <p:cNvSpPr>
            <a:spLocks noGrp="1"/>
          </p:cNvSpPr>
          <p:nvPr>
            <p:ph type="sldNum" sz="quarter" idx="5"/>
          </p:nvPr>
        </p:nvSpPr>
        <p:spPr/>
        <p:txBody>
          <a:bodyPr/>
          <a:lstStyle/>
          <a:p>
            <a:fld id="{BC53E031-4F80-4B26-AFD7-2907F1894819}" type="slidenum">
              <a:rPr lang="en-US" smtClean="0"/>
              <a:t>6</a:t>
            </a:fld>
            <a:endParaRPr lang="en-US"/>
          </a:p>
        </p:txBody>
      </p:sp>
    </p:spTree>
    <p:extLst>
      <p:ext uri="{BB962C8B-B14F-4D97-AF65-F5344CB8AC3E}">
        <p14:creationId xmlns:p14="http://schemas.microsoft.com/office/powerpoint/2010/main" val="309954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71411-EA22-41D1-E873-E1B111A3FA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0DF0FA-A238-6D0D-0388-D616A585BC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CF457E-1B15-6AB4-FDB5-87A18D0D7384}"/>
              </a:ext>
            </a:extLst>
          </p:cNvPr>
          <p:cNvSpPr>
            <a:spLocks noGrp="1"/>
          </p:cNvSpPr>
          <p:nvPr>
            <p:ph type="dt" sz="half" idx="10"/>
          </p:nvPr>
        </p:nvSpPr>
        <p:spPr/>
        <p:txBody>
          <a:bodyPr/>
          <a:lstStyle/>
          <a:p>
            <a:fld id="{A1EA1482-75E1-41DF-9B8B-E13C69F82353}" type="datetimeFigureOut">
              <a:rPr lang="en-US" smtClean="0"/>
              <a:t>11/8/2025</a:t>
            </a:fld>
            <a:endParaRPr lang="en-US"/>
          </a:p>
        </p:txBody>
      </p:sp>
      <p:sp>
        <p:nvSpPr>
          <p:cNvPr id="5" name="Footer Placeholder 4">
            <a:extLst>
              <a:ext uri="{FF2B5EF4-FFF2-40B4-BE49-F238E27FC236}">
                <a16:creationId xmlns:a16="http://schemas.microsoft.com/office/drawing/2014/main" id="{D0B85D41-BD97-70F6-30B3-8D70A118FC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1C4EA0-4D11-B048-B95B-0ED2D3D1D84A}"/>
              </a:ext>
            </a:extLst>
          </p:cNvPr>
          <p:cNvSpPr>
            <a:spLocks noGrp="1"/>
          </p:cNvSpPr>
          <p:nvPr>
            <p:ph type="sldNum" sz="quarter" idx="12"/>
          </p:nvPr>
        </p:nvSpPr>
        <p:spPr/>
        <p:txBody>
          <a:bodyPr/>
          <a:lstStyle/>
          <a:p>
            <a:fld id="{C406323A-1B11-49E9-8288-B178B56484FF}" type="slidenum">
              <a:rPr lang="en-US" smtClean="0"/>
              <a:t>‹#›</a:t>
            </a:fld>
            <a:endParaRPr lang="en-US"/>
          </a:p>
        </p:txBody>
      </p:sp>
    </p:spTree>
    <p:extLst>
      <p:ext uri="{BB962C8B-B14F-4D97-AF65-F5344CB8AC3E}">
        <p14:creationId xmlns:p14="http://schemas.microsoft.com/office/powerpoint/2010/main" val="2017485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FCA35-50E4-F97F-6615-C1FFF9FC8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E0FE94-8EB5-D853-3BDF-CF9D4510C7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F12E8E-4403-CCEE-B743-60C85FC0D4AF}"/>
              </a:ext>
            </a:extLst>
          </p:cNvPr>
          <p:cNvSpPr>
            <a:spLocks noGrp="1"/>
          </p:cNvSpPr>
          <p:nvPr>
            <p:ph type="dt" sz="half" idx="10"/>
          </p:nvPr>
        </p:nvSpPr>
        <p:spPr/>
        <p:txBody>
          <a:bodyPr/>
          <a:lstStyle/>
          <a:p>
            <a:fld id="{A1EA1482-75E1-41DF-9B8B-E13C69F82353}" type="datetimeFigureOut">
              <a:rPr lang="en-US" smtClean="0"/>
              <a:t>11/8/2025</a:t>
            </a:fld>
            <a:endParaRPr lang="en-US"/>
          </a:p>
        </p:txBody>
      </p:sp>
      <p:sp>
        <p:nvSpPr>
          <p:cNvPr id="5" name="Footer Placeholder 4">
            <a:extLst>
              <a:ext uri="{FF2B5EF4-FFF2-40B4-BE49-F238E27FC236}">
                <a16:creationId xmlns:a16="http://schemas.microsoft.com/office/drawing/2014/main" id="{E5849586-55E6-46BA-9835-73C7930B5A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92A55C-C9E1-7980-2A52-A29FF602BFDF}"/>
              </a:ext>
            </a:extLst>
          </p:cNvPr>
          <p:cNvSpPr>
            <a:spLocks noGrp="1"/>
          </p:cNvSpPr>
          <p:nvPr>
            <p:ph type="sldNum" sz="quarter" idx="12"/>
          </p:nvPr>
        </p:nvSpPr>
        <p:spPr/>
        <p:txBody>
          <a:bodyPr/>
          <a:lstStyle/>
          <a:p>
            <a:fld id="{C406323A-1B11-49E9-8288-B178B56484FF}" type="slidenum">
              <a:rPr lang="en-US" smtClean="0"/>
              <a:t>‹#›</a:t>
            </a:fld>
            <a:endParaRPr lang="en-US"/>
          </a:p>
        </p:txBody>
      </p:sp>
    </p:spTree>
    <p:extLst>
      <p:ext uri="{BB962C8B-B14F-4D97-AF65-F5344CB8AC3E}">
        <p14:creationId xmlns:p14="http://schemas.microsoft.com/office/powerpoint/2010/main" val="2675846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F504-C855-9992-6D89-8382C98816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6AFA1B-D44D-1E5C-79CA-AEAD5DEB08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3E200B-10CC-FD4B-8A2E-21E8F8219ACE}"/>
              </a:ext>
            </a:extLst>
          </p:cNvPr>
          <p:cNvSpPr>
            <a:spLocks noGrp="1"/>
          </p:cNvSpPr>
          <p:nvPr>
            <p:ph type="dt" sz="half" idx="10"/>
          </p:nvPr>
        </p:nvSpPr>
        <p:spPr/>
        <p:txBody>
          <a:bodyPr/>
          <a:lstStyle/>
          <a:p>
            <a:fld id="{A1EA1482-75E1-41DF-9B8B-E13C69F82353}" type="datetimeFigureOut">
              <a:rPr lang="en-US" smtClean="0"/>
              <a:t>11/8/2025</a:t>
            </a:fld>
            <a:endParaRPr lang="en-US"/>
          </a:p>
        </p:txBody>
      </p:sp>
      <p:sp>
        <p:nvSpPr>
          <p:cNvPr id="5" name="Footer Placeholder 4">
            <a:extLst>
              <a:ext uri="{FF2B5EF4-FFF2-40B4-BE49-F238E27FC236}">
                <a16:creationId xmlns:a16="http://schemas.microsoft.com/office/drawing/2014/main" id="{A5E59024-8EFD-6118-71F4-6A782F17E2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D27182-8DD3-5B9B-131C-36E12C47D39E}"/>
              </a:ext>
            </a:extLst>
          </p:cNvPr>
          <p:cNvSpPr>
            <a:spLocks noGrp="1"/>
          </p:cNvSpPr>
          <p:nvPr>
            <p:ph type="sldNum" sz="quarter" idx="12"/>
          </p:nvPr>
        </p:nvSpPr>
        <p:spPr/>
        <p:txBody>
          <a:bodyPr/>
          <a:lstStyle/>
          <a:p>
            <a:fld id="{C406323A-1B11-49E9-8288-B178B56484FF}" type="slidenum">
              <a:rPr lang="en-US" smtClean="0"/>
              <a:t>‹#›</a:t>
            </a:fld>
            <a:endParaRPr lang="en-US"/>
          </a:p>
        </p:txBody>
      </p:sp>
    </p:spTree>
    <p:extLst>
      <p:ext uri="{BB962C8B-B14F-4D97-AF65-F5344CB8AC3E}">
        <p14:creationId xmlns:p14="http://schemas.microsoft.com/office/powerpoint/2010/main" val="2713068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82AFE-F7DF-80F1-1206-79B4FB679C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D25992-FC9C-832B-7425-FDA0FF4061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B4FF8D-C1AF-3C4B-95A7-A6538497D8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D7062D-33E1-F0DE-5029-3F1F484AF975}"/>
              </a:ext>
            </a:extLst>
          </p:cNvPr>
          <p:cNvSpPr>
            <a:spLocks noGrp="1"/>
          </p:cNvSpPr>
          <p:nvPr>
            <p:ph type="dt" sz="half" idx="10"/>
          </p:nvPr>
        </p:nvSpPr>
        <p:spPr/>
        <p:txBody>
          <a:bodyPr/>
          <a:lstStyle/>
          <a:p>
            <a:fld id="{A1EA1482-75E1-41DF-9B8B-E13C69F82353}" type="datetimeFigureOut">
              <a:rPr lang="en-US" smtClean="0"/>
              <a:t>11/8/2025</a:t>
            </a:fld>
            <a:endParaRPr lang="en-US"/>
          </a:p>
        </p:txBody>
      </p:sp>
      <p:sp>
        <p:nvSpPr>
          <p:cNvPr id="6" name="Footer Placeholder 5">
            <a:extLst>
              <a:ext uri="{FF2B5EF4-FFF2-40B4-BE49-F238E27FC236}">
                <a16:creationId xmlns:a16="http://schemas.microsoft.com/office/drawing/2014/main" id="{8C14C30A-3D80-10F2-73B5-0579CF830D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65FD8B-1631-5042-8ED7-679E4E443E6B}"/>
              </a:ext>
            </a:extLst>
          </p:cNvPr>
          <p:cNvSpPr>
            <a:spLocks noGrp="1"/>
          </p:cNvSpPr>
          <p:nvPr>
            <p:ph type="sldNum" sz="quarter" idx="12"/>
          </p:nvPr>
        </p:nvSpPr>
        <p:spPr/>
        <p:txBody>
          <a:bodyPr/>
          <a:lstStyle/>
          <a:p>
            <a:fld id="{C406323A-1B11-49E9-8288-B178B56484FF}" type="slidenum">
              <a:rPr lang="en-US" smtClean="0"/>
              <a:t>‹#›</a:t>
            </a:fld>
            <a:endParaRPr lang="en-US"/>
          </a:p>
        </p:txBody>
      </p:sp>
    </p:spTree>
    <p:extLst>
      <p:ext uri="{BB962C8B-B14F-4D97-AF65-F5344CB8AC3E}">
        <p14:creationId xmlns:p14="http://schemas.microsoft.com/office/powerpoint/2010/main" val="177049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64179-FD7D-D66D-A7C2-1DE7570A36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C630D4-F09B-FD70-06BD-E965B48985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1919C7-61C9-B986-F5D0-B830046216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A2993B-869D-8905-B2C4-996EFC2E6E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ACB419-D083-111C-3511-F780D513CB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EEA0BB-33F1-2059-6B03-508883A4B01D}"/>
              </a:ext>
            </a:extLst>
          </p:cNvPr>
          <p:cNvSpPr>
            <a:spLocks noGrp="1"/>
          </p:cNvSpPr>
          <p:nvPr>
            <p:ph type="dt" sz="half" idx="10"/>
          </p:nvPr>
        </p:nvSpPr>
        <p:spPr/>
        <p:txBody>
          <a:bodyPr/>
          <a:lstStyle/>
          <a:p>
            <a:fld id="{A1EA1482-75E1-41DF-9B8B-E13C69F82353}" type="datetimeFigureOut">
              <a:rPr lang="en-US" smtClean="0"/>
              <a:t>11/8/2025</a:t>
            </a:fld>
            <a:endParaRPr lang="en-US"/>
          </a:p>
        </p:txBody>
      </p:sp>
      <p:sp>
        <p:nvSpPr>
          <p:cNvPr id="8" name="Footer Placeholder 7">
            <a:extLst>
              <a:ext uri="{FF2B5EF4-FFF2-40B4-BE49-F238E27FC236}">
                <a16:creationId xmlns:a16="http://schemas.microsoft.com/office/drawing/2014/main" id="{9DA691E0-7310-4367-B941-4A0900DE2B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4F4A11-EDCC-8CA8-5D61-3BD53A7D75E5}"/>
              </a:ext>
            </a:extLst>
          </p:cNvPr>
          <p:cNvSpPr>
            <a:spLocks noGrp="1"/>
          </p:cNvSpPr>
          <p:nvPr>
            <p:ph type="sldNum" sz="quarter" idx="12"/>
          </p:nvPr>
        </p:nvSpPr>
        <p:spPr/>
        <p:txBody>
          <a:bodyPr/>
          <a:lstStyle/>
          <a:p>
            <a:fld id="{C406323A-1B11-49E9-8288-B178B56484FF}" type="slidenum">
              <a:rPr lang="en-US" smtClean="0"/>
              <a:t>‹#›</a:t>
            </a:fld>
            <a:endParaRPr lang="en-US"/>
          </a:p>
        </p:txBody>
      </p:sp>
    </p:spTree>
    <p:extLst>
      <p:ext uri="{BB962C8B-B14F-4D97-AF65-F5344CB8AC3E}">
        <p14:creationId xmlns:p14="http://schemas.microsoft.com/office/powerpoint/2010/main" val="990198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74C15-660E-D61B-9260-4CB4A8AF16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DB7206-C152-03B8-0FF2-63E8A39095A6}"/>
              </a:ext>
            </a:extLst>
          </p:cNvPr>
          <p:cNvSpPr>
            <a:spLocks noGrp="1"/>
          </p:cNvSpPr>
          <p:nvPr>
            <p:ph type="dt" sz="half" idx="10"/>
          </p:nvPr>
        </p:nvSpPr>
        <p:spPr/>
        <p:txBody>
          <a:bodyPr/>
          <a:lstStyle/>
          <a:p>
            <a:fld id="{A1EA1482-75E1-41DF-9B8B-E13C69F82353}" type="datetimeFigureOut">
              <a:rPr lang="en-US" smtClean="0"/>
              <a:t>11/8/2025</a:t>
            </a:fld>
            <a:endParaRPr lang="en-US"/>
          </a:p>
        </p:txBody>
      </p:sp>
      <p:sp>
        <p:nvSpPr>
          <p:cNvPr id="4" name="Footer Placeholder 3">
            <a:extLst>
              <a:ext uri="{FF2B5EF4-FFF2-40B4-BE49-F238E27FC236}">
                <a16:creationId xmlns:a16="http://schemas.microsoft.com/office/drawing/2014/main" id="{9D204FCB-107C-53BB-8149-C3AE03FB26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51F37E-AF80-D8F2-2358-E8152C97A967}"/>
              </a:ext>
            </a:extLst>
          </p:cNvPr>
          <p:cNvSpPr>
            <a:spLocks noGrp="1"/>
          </p:cNvSpPr>
          <p:nvPr>
            <p:ph type="sldNum" sz="quarter" idx="12"/>
          </p:nvPr>
        </p:nvSpPr>
        <p:spPr/>
        <p:txBody>
          <a:bodyPr/>
          <a:lstStyle/>
          <a:p>
            <a:fld id="{C406323A-1B11-49E9-8288-B178B56484FF}" type="slidenum">
              <a:rPr lang="en-US" smtClean="0"/>
              <a:t>‹#›</a:t>
            </a:fld>
            <a:endParaRPr lang="en-US"/>
          </a:p>
        </p:txBody>
      </p:sp>
    </p:spTree>
    <p:extLst>
      <p:ext uri="{BB962C8B-B14F-4D97-AF65-F5344CB8AC3E}">
        <p14:creationId xmlns:p14="http://schemas.microsoft.com/office/powerpoint/2010/main" val="3528393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DCE81C-3CB6-3D69-17B8-0A7A8FAADABA}"/>
              </a:ext>
            </a:extLst>
          </p:cNvPr>
          <p:cNvSpPr>
            <a:spLocks noGrp="1"/>
          </p:cNvSpPr>
          <p:nvPr>
            <p:ph type="dt" sz="half" idx="10"/>
          </p:nvPr>
        </p:nvSpPr>
        <p:spPr/>
        <p:txBody>
          <a:bodyPr/>
          <a:lstStyle/>
          <a:p>
            <a:fld id="{A1EA1482-75E1-41DF-9B8B-E13C69F82353}" type="datetimeFigureOut">
              <a:rPr lang="en-US" smtClean="0"/>
              <a:t>11/8/2025</a:t>
            </a:fld>
            <a:endParaRPr lang="en-US"/>
          </a:p>
        </p:txBody>
      </p:sp>
      <p:sp>
        <p:nvSpPr>
          <p:cNvPr id="3" name="Footer Placeholder 2">
            <a:extLst>
              <a:ext uri="{FF2B5EF4-FFF2-40B4-BE49-F238E27FC236}">
                <a16:creationId xmlns:a16="http://schemas.microsoft.com/office/drawing/2014/main" id="{F1D21F1F-323E-6FE8-34EA-85B148AB7F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BBD0439-E337-1FE9-9264-CD83BF4D4069}"/>
              </a:ext>
            </a:extLst>
          </p:cNvPr>
          <p:cNvSpPr>
            <a:spLocks noGrp="1"/>
          </p:cNvSpPr>
          <p:nvPr>
            <p:ph type="sldNum" sz="quarter" idx="12"/>
          </p:nvPr>
        </p:nvSpPr>
        <p:spPr/>
        <p:txBody>
          <a:bodyPr/>
          <a:lstStyle/>
          <a:p>
            <a:fld id="{C406323A-1B11-49E9-8288-B178B56484FF}" type="slidenum">
              <a:rPr lang="en-US" smtClean="0"/>
              <a:t>‹#›</a:t>
            </a:fld>
            <a:endParaRPr lang="en-US"/>
          </a:p>
        </p:txBody>
      </p:sp>
    </p:spTree>
    <p:extLst>
      <p:ext uri="{BB962C8B-B14F-4D97-AF65-F5344CB8AC3E}">
        <p14:creationId xmlns:p14="http://schemas.microsoft.com/office/powerpoint/2010/main" val="1646687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5DEEF-0887-5654-A035-5817E91247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A461F0-EF0D-3AA5-1C0A-5BB796648B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F875EE-E4B0-A5A9-EC65-CDBF51EA94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8C6900-D511-DBB2-F280-57543B72FBE0}"/>
              </a:ext>
            </a:extLst>
          </p:cNvPr>
          <p:cNvSpPr>
            <a:spLocks noGrp="1"/>
          </p:cNvSpPr>
          <p:nvPr>
            <p:ph type="dt" sz="half" idx="10"/>
          </p:nvPr>
        </p:nvSpPr>
        <p:spPr/>
        <p:txBody>
          <a:bodyPr/>
          <a:lstStyle/>
          <a:p>
            <a:fld id="{A1EA1482-75E1-41DF-9B8B-E13C69F82353}" type="datetimeFigureOut">
              <a:rPr lang="en-US" smtClean="0"/>
              <a:t>11/8/2025</a:t>
            </a:fld>
            <a:endParaRPr lang="en-US"/>
          </a:p>
        </p:txBody>
      </p:sp>
      <p:sp>
        <p:nvSpPr>
          <p:cNvPr id="6" name="Footer Placeholder 5">
            <a:extLst>
              <a:ext uri="{FF2B5EF4-FFF2-40B4-BE49-F238E27FC236}">
                <a16:creationId xmlns:a16="http://schemas.microsoft.com/office/drawing/2014/main" id="{95CD4D25-F55D-8F33-525D-94636BC18C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EB86B8-E8E4-83C9-78A8-1F71A700C88F}"/>
              </a:ext>
            </a:extLst>
          </p:cNvPr>
          <p:cNvSpPr>
            <a:spLocks noGrp="1"/>
          </p:cNvSpPr>
          <p:nvPr>
            <p:ph type="sldNum" sz="quarter" idx="12"/>
          </p:nvPr>
        </p:nvSpPr>
        <p:spPr/>
        <p:txBody>
          <a:bodyPr/>
          <a:lstStyle/>
          <a:p>
            <a:fld id="{C406323A-1B11-49E9-8288-B178B56484FF}" type="slidenum">
              <a:rPr lang="en-US" smtClean="0"/>
              <a:t>‹#›</a:t>
            </a:fld>
            <a:endParaRPr lang="en-US"/>
          </a:p>
        </p:txBody>
      </p:sp>
    </p:spTree>
    <p:extLst>
      <p:ext uri="{BB962C8B-B14F-4D97-AF65-F5344CB8AC3E}">
        <p14:creationId xmlns:p14="http://schemas.microsoft.com/office/powerpoint/2010/main" val="850805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306EC-AC95-71E2-DDF8-7F3F31D82E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CD1702-0324-CA02-6D20-7A4DC631DB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FB6FCC-8C51-BCEF-6A00-6C8036F0AD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BD773A-8DCD-D0A5-92CA-F337A5398CA4}"/>
              </a:ext>
            </a:extLst>
          </p:cNvPr>
          <p:cNvSpPr>
            <a:spLocks noGrp="1"/>
          </p:cNvSpPr>
          <p:nvPr>
            <p:ph type="dt" sz="half" idx="10"/>
          </p:nvPr>
        </p:nvSpPr>
        <p:spPr/>
        <p:txBody>
          <a:bodyPr/>
          <a:lstStyle/>
          <a:p>
            <a:fld id="{A1EA1482-75E1-41DF-9B8B-E13C69F82353}" type="datetimeFigureOut">
              <a:rPr lang="en-US" smtClean="0"/>
              <a:t>11/8/2025</a:t>
            </a:fld>
            <a:endParaRPr lang="en-US"/>
          </a:p>
        </p:txBody>
      </p:sp>
      <p:sp>
        <p:nvSpPr>
          <p:cNvPr id="6" name="Footer Placeholder 5">
            <a:extLst>
              <a:ext uri="{FF2B5EF4-FFF2-40B4-BE49-F238E27FC236}">
                <a16:creationId xmlns:a16="http://schemas.microsoft.com/office/drawing/2014/main" id="{F930F87C-7B89-1933-FDD5-2B2F8A6937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CB373-26EB-9C38-C35F-5E5E38EEB5BB}"/>
              </a:ext>
            </a:extLst>
          </p:cNvPr>
          <p:cNvSpPr>
            <a:spLocks noGrp="1"/>
          </p:cNvSpPr>
          <p:nvPr>
            <p:ph type="sldNum" sz="quarter" idx="12"/>
          </p:nvPr>
        </p:nvSpPr>
        <p:spPr/>
        <p:txBody>
          <a:bodyPr/>
          <a:lstStyle/>
          <a:p>
            <a:fld id="{C406323A-1B11-49E9-8288-B178B56484FF}" type="slidenum">
              <a:rPr lang="en-US" smtClean="0"/>
              <a:t>‹#›</a:t>
            </a:fld>
            <a:endParaRPr lang="en-US"/>
          </a:p>
        </p:txBody>
      </p:sp>
    </p:spTree>
    <p:extLst>
      <p:ext uri="{BB962C8B-B14F-4D97-AF65-F5344CB8AC3E}">
        <p14:creationId xmlns:p14="http://schemas.microsoft.com/office/powerpoint/2010/main" val="2530391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2F35C-BDB1-68A5-BB2A-AB0EE05F3C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1F80A9-AC0D-83D1-8970-DD39BE2972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75BE12-6100-6524-865B-C0299C09C8FB}"/>
              </a:ext>
            </a:extLst>
          </p:cNvPr>
          <p:cNvSpPr>
            <a:spLocks noGrp="1"/>
          </p:cNvSpPr>
          <p:nvPr>
            <p:ph type="dt" sz="half" idx="10"/>
          </p:nvPr>
        </p:nvSpPr>
        <p:spPr/>
        <p:txBody>
          <a:bodyPr/>
          <a:lstStyle/>
          <a:p>
            <a:fld id="{A1EA1482-75E1-41DF-9B8B-E13C69F82353}" type="datetimeFigureOut">
              <a:rPr lang="en-US" smtClean="0"/>
              <a:t>11/8/2025</a:t>
            </a:fld>
            <a:endParaRPr lang="en-US"/>
          </a:p>
        </p:txBody>
      </p:sp>
      <p:sp>
        <p:nvSpPr>
          <p:cNvPr id="5" name="Footer Placeholder 4">
            <a:extLst>
              <a:ext uri="{FF2B5EF4-FFF2-40B4-BE49-F238E27FC236}">
                <a16:creationId xmlns:a16="http://schemas.microsoft.com/office/drawing/2014/main" id="{CDE6AE91-723C-5A75-72F9-042FC8A09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5D56FF-7845-9FD5-5ECF-9793634A5114}"/>
              </a:ext>
            </a:extLst>
          </p:cNvPr>
          <p:cNvSpPr>
            <a:spLocks noGrp="1"/>
          </p:cNvSpPr>
          <p:nvPr>
            <p:ph type="sldNum" sz="quarter" idx="12"/>
          </p:nvPr>
        </p:nvSpPr>
        <p:spPr/>
        <p:txBody>
          <a:bodyPr/>
          <a:lstStyle/>
          <a:p>
            <a:fld id="{C406323A-1B11-49E9-8288-B178B56484FF}" type="slidenum">
              <a:rPr lang="en-US" smtClean="0"/>
              <a:t>‹#›</a:t>
            </a:fld>
            <a:endParaRPr lang="en-US"/>
          </a:p>
        </p:txBody>
      </p:sp>
    </p:spTree>
    <p:extLst>
      <p:ext uri="{BB962C8B-B14F-4D97-AF65-F5344CB8AC3E}">
        <p14:creationId xmlns:p14="http://schemas.microsoft.com/office/powerpoint/2010/main" val="1322512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3F5520-9D37-9D98-E2C6-A975725E7E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A2820F-06C5-4ECB-8C43-AB96D94433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3BD069-661C-1F97-596D-0CEF873D3BE9}"/>
              </a:ext>
            </a:extLst>
          </p:cNvPr>
          <p:cNvSpPr>
            <a:spLocks noGrp="1"/>
          </p:cNvSpPr>
          <p:nvPr>
            <p:ph type="dt" sz="half" idx="10"/>
          </p:nvPr>
        </p:nvSpPr>
        <p:spPr/>
        <p:txBody>
          <a:bodyPr/>
          <a:lstStyle/>
          <a:p>
            <a:fld id="{A1EA1482-75E1-41DF-9B8B-E13C69F82353}" type="datetimeFigureOut">
              <a:rPr lang="en-US" smtClean="0"/>
              <a:t>11/8/2025</a:t>
            </a:fld>
            <a:endParaRPr lang="en-US"/>
          </a:p>
        </p:txBody>
      </p:sp>
      <p:sp>
        <p:nvSpPr>
          <p:cNvPr id="5" name="Footer Placeholder 4">
            <a:extLst>
              <a:ext uri="{FF2B5EF4-FFF2-40B4-BE49-F238E27FC236}">
                <a16:creationId xmlns:a16="http://schemas.microsoft.com/office/drawing/2014/main" id="{D76B0640-9FBB-EAFB-2D12-60D2F5FC88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99DCC7-DA82-E780-26B1-E8A2A2E61D38}"/>
              </a:ext>
            </a:extLst>
          </p:cNvPr>
          <p:cNvSpPr>
            <a:spLocks noGrp="1"/>
          </p:cNvSpPr>
          <p:nvPr>
            <p:ph type="sldNum" sz="quarter" idx="12"/>
          </p:nvPr>
        </p:nvSpPr>
        <p:spPr/>
        <p:txBody>
          <a:bodyPr/>
          <a:lstStyle/>
          <a:p>
            <a:fld id="{C406323A-1B11-49E9-8288-B178B56484FF}" type="slidenum">
              <a:rPr lang="en-US" smtClean="0"/>
              <a:t>‹#›</a:t>
            </a:fld>
            <a:endParaRPr lang="en-US"/>
          </a:p>
        </p:txBody>
      </p:sp>
    </p:spTree>
    <p:extLst>
      <p:ext uri="{BB962C8B-B14F-4D97-AF65-F5344CB8AC3E}">
        <p14:creationId xmlns:p14="http://schemas.microsoft.com/office/powerpoint/2010/main" val="910598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BBCA00-1AA6-063A-2D2A-D3562C6FB0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792C17-439F-3BA0-EB26-6CCF853DD4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14F0A-C68B-55DF-1F67-9D8A6440EF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EA1482-75E1-41DF-9B8B-E13C69F82353}" type="datetimeFigureOut">
              <a:rPr lang="en-US" smtClean="0"/>
              <a:t>11/8/2025</a:t>
            </a:fld>
            <a:endParaRPr lang="en-US"/>
          </a:p>
        </p:txBody>
      </p:sp>
      <p:sp>
        <p:nvSpPr>
          <p:cNvPr id="5" name="Footer Placeholder 4">
            <a:extLst>
              <a:ext uri="{FF2B5EF4-FFF2-40B4-BE49-F238E27FC236}">
                <a16:creationId xmlns:a16="http://schemas.microsoft.com/office/drawing/2014/main" id="{F2B349C9-B4AA-66C2-AEA0-4C14E07B23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22BD14-EFB9-0C68-36B2-1FAC1D77C2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06323A-1B11-49E9-8288-B178B56484FF}" type="slidenum">
              <a:rPr lang="en-US" smtClean="0"/>
              <a:t>‹#›</a:t>
            </a:fld>
            <a:endParaRPr lang="en-US"/>
          </a:p>
        </p:txBody>
      </p:sp>
    </p:spTree>
    <p:extLst>
      <p:ext uri="{BB962C8B-B14F-4D97-AF65-F5344CB8AC3E}">
        <p14:creationId xmlns:p14="http://schemas.microsoft.com/office/powerpoint/2010/main" val="1916563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www.aldi-sued.de/de/p.meine-kuchenwelt-sahneschnitten--g-schwarzwaelder-kirsch.000000000191740001.html.%20Accessed%204%20Nov.%20202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C9A1F-F75F-434C-5D87-4A689A9BE1D5}"/>
              </a:ext>
            </a:extLst>
          </p:cNvPr>
          <p:cNvSpPr>
            <a:spLocks noGrp="1"/>
          </p:cNvSpPr>
          <p:nvPr>
            <p:ph type="ctrTitle"/>
          </p:nvPr>
        </p:nvSpPr>
        <p:spPr/>
        <p:txBody>
          <a:bodyPr/>
          <a:lstStyle/>
          <a:p>
            <a:r>
              <a:rPr lang="en-US" dirty="0" err="1"/>
              <a:t>Woche</a:t>
            </a:r>
            <a:r>
              <a:rPr lang="en-US" dirty="0"/>
              <a:t> 11: Cultural Presentation</a:t>
            </a:r>
          </a:p>
        </p:txBody>
      </p:sp>
      <p:sp>
        <p:nvSpPr>
          <p:cNvPr id="3" name="Subtitle 2">
            <a:extLst>
              <a:ext uri="{FF2B5EF4-FFF2-40B4-BE49-F238E27FC236}">
                <a16:creationId xmlns:a16="http://schemas.microsoft.com/office/drawing/2014/main" id="{2D539F6A-992C-1453-0EF4-85AF36BA7BC9}"/>
              </a:ext>
            </a:extLst>
          </p:cNvPr>
          <p:cNvSpPr>
            <a:spLocks noGrp="1"/>
          </p:cNvSpPr>
          <p:nvPr>
            <p:ph type="subTitle" idx="1"/>
          </p:nvPr>
        </p:nvSpPr>
        <p:spPr/>
        <p:txBody>
          <a:bodyPr/>
          <a:lstStyle/>
          <a:p>
            <a:r>
              <a:rPr lang="en-US" dirty="0"/>
              <a:t>Kyle Lund</a:t>
            </a:r>
          </a:p>
        </p:txBody>
      </p:sp>
    </p:spTree>
    <p:extLst>
      <p:ext uri="{BB962C8B-B14F-4D97-AF65-F5344CB8AC3E}">
        <p14:creationId xmlns:p14="http://schemas.microsoft.com/office/powerpoint/2010/main" val="2457160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9D4EE1-72A5-8F7F-2A8D-B49F03F11F8B}"/>
              </a:ext>
            </a:extLst>
          </p:cNvPr>
          <p:cNvSpPr>
            <a:spLocks noGrp="1"/>
          </p:cNvSpPr>
          <p:nvPr>
            <p:ph type="title"/>
          </p:nvPr>
        </p:nvSpPr>
        <p:spPr/>
        <p:txBody>
          <a:bodyPr/>
          <a:lstStyle/>
          <a:p>
            <a:r>
              <a:rPr lang="en-US" dirty="0" err="1"/>
              <a:t>Butterkäse</a:t>
            </a:r>
            <a:endParaRPr lang="en-US" dirty="0"/>
          </a:p>
        </p:txBody>
      </p:sp>
      <p:sp>
        <p:nvSpPr>
          <p:cNvPr id="5" name="Content Placeholder 4">
            <a:extLst>
              <a:ext uri="{FF2B5EF4-FFF2-40B4-BE49-F238E27FC236}">
                <a16:creationId xmlns:a16="http://schemas.microsoft.com/office/drawing/2014/main" id="{C084267C-6324-C739-02EC-C57429CCF73E}"/>
              </a:ext>
            </a:extLst>
          </p:cNvPr>
          <p:cNvSpPr>
            <a:spLocks noGrp="1"/>
          </p:cNvSpPr>
          <p:nvPr>
            <p:ph sz="half" idx="1"/>
          </p:nvPr>
        </p:nvSpPr>
        <p:spPr/>
        <p:txBody>
          <a:bodyPr/>
          <a:lstStyle/>
          <a:p>
            <a:r>
              <a:rPr lang="en-US" dirty="0"/>
              <a:t>Milder Deutscher </a:t>
            </a:r>
            <a:r>
              <a:rPr lang="en-US" dirty="0" err="1"/>
              <a:t>Käse</a:t>
            </a:r>
            <a:endParaRPr lang="en-US" dirty="0"/>
          </a:p>
          <a:p>
            <a:r>
              <a:rPr lang="de-DE" dirty="0"/>
              <a:t>Basierend auf Bel Paese, einem italienischen Käse</a:t>
            </a:r>
          </a:p>
          <a:p>
            <a:r>
              <a:rPr lang="de-DE" dirty="0"/>
              <a:t>Wird häufig für Sandwiches verwendet</a:t>
            </a:r>
          </a:p>
          <a:p>
            <a:r>
              <a:rPr lang="de-DE" dirty="0"/>
              <a:t>Beliebt in der Allgemeinheit, besonders bei Kindern</a:t>
            </a:r>
            <a:endParaRPr lang="en-US" dirty="0"/>
          </a:p>
        </p:txBody>
      </p:sp>
      <p:pic>
        <p:nvPicPr>
          <p:cNvPr id="8" name="Content Placeholder 7">
            <a:extLst>
              <a:ext uri="{FF2B5EF4-FFF2-40B4-BE49-F238E27FC236}">
                <a16:creationId xmlns:a16="http://schemas.microsoft.com/office/drawing/2014/main" id="{D9F08660-1E31-9ED9-AF77-324525FD2DA8}"/>
              </a:ext>
            </a:extLst>
          </p:cNvPr>
          <p:cNvPicPr>
            <a:picLocks noGrp="1" noChangeAspect="1"/>
          </p:cNvPicPr>
          <p:nvPr>
            <p:ph sz="half" idx="2"/>
          </p:nvPr>
        </p:nvPicPr>
        <p:blipFill>
          <a:blip r:embed="rId3"/>
          <a:stretch>
            <a:fillRect/>
          </a:stretch>
        </p:blipFill>
        <p:spPr>
          <a:xfrm>
            <a:off x="6587331" y="1825625"/>
            <a:ext cx="4351338" cy="4351338"/>
          </a:xfrm>
          <a:prstGeom prst="rect">
            <a:avLst/>
          </a:prstGeom>
        </p:spPr>
      </p:pic>
      <p:sp>
        <p:nvSpPr>
          <p:cNvPr id="7" name="TextBox 6">
            <a:extLst>
              <a:ext uri="{FF2B5EF4-FFF2-40B4-BE49-F238E27FC236}">
                <a16:creationId xmlns:a16="http://schemas.microsoft.com/office/drawing/2014/main" id="{93D0B15C-1F0E-8653-D151-B6904D126BA8}"/>
              </a:ext>
            </a:extLst>
          </p:cNvPr>
          <p:cNvSpPr txBox="1"/>
          <p:nvPr/>
        </p:nvSpPr>
        <p:spPr>
          <a:xfrm>
            <a:off x="6389226" y="6176963"/>
            <a:ext cx="5891514" cy="307777"/>
          </a:xfrm>
          <a:prstGeom prst="rect">
            <a:avLst/>
          </a:prstGeom>
          <a:noFill/>
        </p:spPr>
        <p:txBody>
          <a:bodyPr wrap="square" rtlCol="0">
            <a:spAutoFit/>
          </a:bodyPr>
          <a:lstStyle/>
          <a:p>
            <a:r>
              <a:rPr lang="en-US" sz="1400" dirty="0"/>
              <a:t>https://s7g10.scene7.com/is/image/aldi/202508200502</a:t>
            </a:r>
          </a:p>
        </p:txBody>
      </p:sp>
      <p:sp>
        <p:nvSpPr>
          <p:cNvPr id="9" name="TextBox 8">
            <a:extLst>
              <a:ext uri="{FF2B5EF4-FFF2-40B4-BE49-F238E27FC236}">
                <a16:creationId xmlns:a16="http://schemas.microsoft.com/office/drawing/2014/main" id="{6B14E495-5A0C-44B2-2986-60BAF8331E01}"/>
              </a:ext>
            </a:extLst>
          </p:cNvPr>
          <p:cNvSpPr txBox="1"/>
          <p:nvPr/>
        </p:nvSpPr>
        <p:spPr>
          <a:xfrm>
            <a:off x="838200" y="6176963"/>
            <a:ext cx="3671454" cy="523220"/>
          </a:xfrm>
          <a:prstGeom prst="rect">
            <a:avLst/>
          </a:prstGeom>
          <a:noFill/>
        </p:spPr>
        <p:txBody>
          <a:bodyPr wrap="square" rtlCol="0">
            <a:spAutoFit/>
          </a:bodyPr>
          <a:lstStyle/>
          <a:p>
            <a:r>
              <a:rPr lang="en-US" sz="1400" dirty="0"/>
              <a:t>https://www.wisconsincheese.com/the-cheese-life/article/151/butterkase</a:t>
            </a:r>
          </a:p>
        </p:txBody>
      </p:sp>
    </p:spTree>
    <p:extLst>
      <p:ext uri="{BB962C8B-B14F-4D97-AF65-F5344CB8AC3E}">
        <p14:creationId xmlns:p14="http://schemas.microsoft.com/office/powerpoint/2010/main" val="2735322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3943A-4444-7425-943E-9D92D293C49A}"/>
              </a:ext>
            </a:extLst>
          </p:cNvPr>
          <p:cNvSpPr>
            <a:spLocks noGrp="1"/>
          </p:cNvSpPr>
          <p:nvPr>
            <p:ph type="title"/>
          </p:nvPr>
        </p:nvSpPr>
        <p:spPr/>
        <p:txBody>
          <a:bodyPr/>
          <a:lstStyle/>
          <a:p>
            <a:r>
              <a:rPr lang="en-US" dirty="0"/>
              <a:t>Schnitzel</a:t>
            </a:r>
          </a:p>
        </p:txBody>
      </p:sp>
      <p:sp>
        <p:nvSpPr>
          <p:cNvPr id="3" name="Content Placeholder 2">
            <a:extLst>
              <a:ext uri="{FF2B5EF4-FFF2-40B4-BE49-F238E27FC236}">
                <a16:creationId xmlns:a16="http://schemas.microsoft.com/office/drawing/2014/main" id="{280D7137-F98D-11C9-0ABC-052A845B3918}"/>
              </a:ext>
            </a:extLst>
          </p:cNvPr>
          <p:cNvSpPr>
            <a:spLocks noGrp="1"/>
          </p:cNvSpPr>
          <p:nvPr>
            <p:ph sz="half" idx="1"/>
          </p:nvPr>
        </p:nvSpPr>
        <p:spPr/>
        <p:txBody>
          <a:bodyPr/>
          <a:lstStyle/>
          <a:p>
            <a:r>
              <a:rPr lang="de-DE" dirty="0"/>
              <a:t>Flach geklopftes, paniertes und in der Pfanne gebratenes Fleisch</a:t>
            </a:r>
          </a:p>
          <a:p>
            <a:r>
              <a:rPr lang="de-DE" dirty="0"/>
              <a:t>Kann aus verschiedenen Fleischsorten bestehen</a:t>
            </a:r>
          </a:p>
          <a:p>
            <a:r>
              <a:rPr lang="de-DE" dirty="0"/>
              <a:t>Passt gut zu vielen verschiedenen Beilagen</a:t>
            </a:r>
          </a:p>
          <a:p>
            <a:r>
              <a:rPr lang="de-DE" dirty="0"/>
              <a:t>Römischen Ursprungs, hat sich weltweit verbreitet</a:t>
            </a:r>
            <a:endParaRPr lang="en-US" dirty="0"/>
          </a:p>
        </p:txBody>
      </p:sp>
      <p:pic>
        <p:nvPicPr>
          <p:cNvPr id="7" name="Content Placeholder 6">
            <a:extLst>
              <a:ext uri="{FF2B5EF4-FFF2-40B4-BE49-F238E27FC236}">
                <a16:creationId xmlns:a16="http://schemas.microsoft.com/office/drawing/2014/main" id="{0840FE39-CBB0-D700-C6C7-52A6CC303473}"/>
              </a:ext>
            </a:extLst>
          </p:cNvPr>
          <p:cNvPicPr>
            <a:picLocks noGrp="1" noChangeAspect="1"/>
          </p:cNvPicPr>
          <p:nvPr>
            <p:ph sz="half" idx="2"/>
          </p:nvPr>
        </p:nvPicPr>
        <p:blipFill>
          <a:blip r:embed="rId3"/>
          <a:stretch>
            <a:fillRect/>
          </a:stretch>
        </p:blipFill>
        <p:spPr>
          <a:xfrm>
            <a:off x="6587331" y="1825625"/>
            <a:ext cx="4351338" cy="4351338"/>
          </a:xfrm>
          <a:prstGeom prst="rect">
            <a:avLst/>
          </a:prstGeom>
        </p:spPr>
      </p:pic>
      <p:sp>
        <p:nvSpPr>
          <p:cNvPr id="5" name="TextBox 4">
            <a:extLst>
              <a:ext uri="{FF2B5EF4-FFF2-40B4-BE49-F238E27FC236}">
                <a16:creationId xmlns:a16="http://schemas.microsoft.com/office/drawing/2014/main" id="{95BF4763-B3FD-CA45-C6F1-0A7A090A1E87}"/>
              </a:ext>
            </a:extLst>
          </p:cNvPr>
          <p:cNvSpPr txBox="1"/>
          <p:nvPr/>
        </p:nvSpPr>
        <p:spPr>
          <a:xfrm>
            <a:off x="6389226" y="6176963"/>
            <a:ext cx="5891514" cy="307777"/>
          </a:xfrm>
          <a:prstGeom prst="rect">
            <a:avLst/>
          </a:prstGeom>
          <a:noFill/>
        </p:spPr>
        <p:txBody>
          <a:bodyPr wrap="square" rtlCol="0">
            <a:spAutoFit/>
          </a:bodyPr>
          <a:lstStyle/>
          <a:p>
            <a:r>
              <a:rPr lang="en-US" sz="1400" dirty="0"/>
              <a:t>https://s7g10.scene7.com/is/image/aldi/202409060301?$H10-XL$</a:t>
            </a:r>
          </a:p>
        </p:txBody>
      </p:sp>
      <p:sp>
        <p:nvSpPr>
          <p:cNvPr id="6" name="TextBox 5">
            <a:extLst>
              <a:ext uri="{FF2B5EF4-FFF2-40B4-BE49-F238E27FC236}">
                <a16:creationId xmlns:a16="http://schemas.microsoft.com/office/drawing/2014/main" id="{59D9A8C4-B80A-2E32-B6C1-7BB8B63B9CA9}"/>
              </a:ext>
            </a:extLst>
          </p:cNvPr>
          <p:cNvSpPr txBox="1"/>
          <p:nvPr/>
        </p:nvSpPr>
        <p:spPr>
          <a:xfrm>
            <a:off x="838200" y="6176963"/>
            <a:ext cx="3671454" cy="523220"/>
          </a:xfrm>
          <a:prstGeom prst="rect">
            <a:avLst/>
          </a:prstGeom>
          <a:noFill/>
        </p:spPr>
        <p:txBody>
          <a:bodyPr wrap="square" rtlCol="0">
            <a:spAutoFit/>
          </a:bodyPr>
          <a:lstStyle/>
          <a:p>
            <a:r>
              <a:rPr lang="en-US" sz="1400" dirty="0"/>
              <a:t>https://wordpress.kpu.ca/foodhistory/2023/02/10/scrumptious-schnitzel/</a:t>
            </a:r>
          </a:p>
        </p:txBody>
      </p:sp>
    </p:spTree>
    <p:extLst>
      <p:ext uri="{BB962C8B-B14F-4D97-AF65-F5344CB8AC3E}">
        <p14:creationId xmlns:p14="http://schemas.microsoft.com/office/powerpoint/2010/main" val="3634691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E38EE-8ED7-3EF6-5893-BFF6966D5222}"/>
              </a:ext>
            </a:extLst>
          </p:cNvPr>
          <p:cNvSpPr>
            <a:spLocks noGrp="1"/>
          </p:cNvSpPr>
          <p:nvPr>
            <p:ph type="title"/>
          </p:nvPr>
        </p:nvSpPr>
        <p:spPr/>
        <p:txBody>
          <a:bodyPr/>
          <a:lstStyle/>
          <a:p>
            <a:r>
              <a:rPr lang="en-US" dirty="0"/>
              <a:t>Spätzle</a:t>
            </a:r>
          </a:p>
        </p:txBody>
      </p:sp>
      <p:sp>
        <p:nvSpPr>
          <p:cNvPr id="3" name="Content Placeholder 2">
            <a:extLst>
              <a:ext uri="{FF2B5EF4-FFF2-40B4-BE49-F238E27FC236}">
                <a16:creationId xmlns:a16="http://schemas.microsoft.com/office/drawing/2014/main" id="{DBB0357E-690B-34CC-D1A8-7578F71A7C8A}"/>
              </a:ext>
            </a:extLst>
          </p:cNvPr>
          <p:cNvSpPr>
            <a:spLocks noGrp="1"/>
          </p:cNvSpPr>
          <p:nvPr>
            <p:ph sz="half" idx="1"/>
          </p:nvPr>
        </p:nvSpPr>
        <p:spPr/>
        <p:txBody>
          <a:bodyPr/>
          <a:lstStyle/>
          <a:p>
            <a:r>
              <a:rPr lang="de-DE" dirty="0"/>
              <a:t>Liegt zwischen Knödel und Nudel</a:t>
            </a:r>
          </a:p>
          <a:p>
            <a:r>
              <a:rPr lang="de-DE" dirty="0"/>
              <a:t>Besteht aus Mehl, Wasser und Ei</a:t>
            </a:r>
          </a:p>
          <a:p>
            <a:r>
              <a:rPr lang="de-DE" dirty="0"/>
              <a:t>Vielseitige Grundlage für verschiedene Gerichte</a:t>
            </a:r>
          </a:p>
          <a:p>
            <a:r>
              <a:rPr lang="de-DE" dirty="0"/>
              <a:t>Wichtiger Bestandteil der schwäbischen Kultur</a:t>
            </a:r>
            <a:endParaRPr lang="en-US" dirty="0"/>
          </a:p>
        </p:txBody>
      </p:sp>
      <p:sp>
        <p:nvSpPr>
          <p:cNvPr id="5" name="TextBox 4">
            <a:extLst>
              <a:ext uri="{FF2B5EF4-FFF2-40B4-BE49-F238E27FC236}">
                <a16:creationId xmlns:a16="http://schemas.microsoft.com/office/drawing/2014/main" id="{33C22731-1698-0928-FD4E-CDE4FB3A4212}"/>
              </a:ext>
            </a:extLst>
          </p:cNvPr>
          <p:cNvSpPr txBox="1"/>
          <p:nvPr/>
        </p:nvSpPr>
        <p:spPr>
          <a:xfrm>
            <a:off x="6389226" y="6176963"/>
            <a:ext cx="5891514" cy="307777"/>
          </a:xfrm>
          <a:prstGeom prst="rect">
            <a:avLst/>
          </a:prstGeom>
          <a:noFill/>
        </p:spPr>
        <p:txBody>
          <a:bodyPr wrap="square" rtlCol="0">
            <a:spAutoFit/>
          </a:bodyPr>
          <a:lstStyle/>
          <a:p>
            <a:r>
              <a:rPr lang="en-US" sz="1400" dirty="0"/>
              <a:t>https://s7g10.scene7.com/is/image/aldi/202411130554?$H10-XL$</a:t>
            </a:r>
          </a:p>
        </p:txBody>
      </p:sp>
      <p:sp>
        <p:nvSpPr>
          <p:cNvPr id="6" name="TextBox 5">
            <a:extLst>
              <a:ext uri="{FF2B5EF4-FFF2-40B4-BE49-F238E27FC236}">
                <a16:creationId xmlns:a16="http://schemas.microsoft.com/office/drawing/2014/main" id="{0D0778AC-BCCA-27ED-3DF9-EF82A47D1FB1}"/>
              </a:ext>
            </a:extLst>
          </p:cNvPr>
          <p:cNvSpPr txBox="1"/>
          <p:nvPr/>
        </p:nvSpPr>
        <p:spPr>
          <a:xfrm>
            <a:off x="838200" y="6176963"/>
            <a:ext cx="3671454" cy="523220"/>
          </a:xfrm>
          <a:prstGeom prst="rect">
            <a:avLst/>
          </a:prstGeom>
          <a:noFill/>
        </p:spPr>
        <p:txBody>
          <a:bodyPr wrap="square" rtlCol="0">
            <a:spAutoFit/>
          </a:bodyPr>
          <a:lstStyle/>
          <a:p>
            <a:r>
              <a:rPr lang="en-US" sz="1400" dirty="0"/>
              <a:t>https://www.kitchenproject.com/german/recipes/Spaetzle/History.htm</a:t>
            </a:r>
          </a:p>
        </p:txBody>
      </p:sp>
      <p:pic>
        <p:nvPicPr>
          <p:cNvPr id="3074" name="Picture 2">
            <a:extLst>
              <a:ext uri="{FF2B5EF4-FFF2-40B4-BE49-F238E27FC236}">
                <a16:creationId xmlns:a16="http://schemas.microsoft.com/office/drawing/2014/main" id="{5B90C104-0AC3-9FEE-FA60-F7437B67070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587331" y="1825625"/>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55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9723-5A23-01A8-C620-5704EB6066DB}"/>
              </a:ext>
            </a:extLst>
          </p:cNvPr>
          <p:cNvSpPr>
            <a:spLocks noGrp="1"/>
          </p:cNvSpPr>
          <p:nvPr>
            <p:ph type="title"/>
          </p:nvPr>
        </p:nvSpPr>
        <p:spPr/>
        <p:txBody>
          <a:bodyPr/>
          <a:lstStyle/>
          <a:p>
            <a:r>
              <a:rPr lang="en-US" dirty="0" err="1"/>
              <a:t>Spargel</a:t>
            </a:r>
            <a:endParaRPr lang="en-US" dirty="0"/>
          </a:p>
        </p:txBody>
      </p:sp>
      <p:sp>
        <p:nvSpPr>
          <p:cNvPr id="3" name="Content Placeholder 2">
            <a:extLst>
              <a:ext uri="{FF2B5EF4-FFF2-40B4-BE49-F238E27FC236}">
                <a16:creationId xmlns:a16="http://schemas.microsoft.com/office/drawing/2014/main" id="{E235EBC6-D72F-FD8D-211B-1ED46D03641B}"/>
              </a:ext>
            </a:extLst>
          </p:cNvPr>
          <p:cNvSpPr>
            <a:spLocks noGrp="1"/>
          </p:cNvSpPr>
          <p:nvPr>
            <p:ph sz="half" idx="1"/>
          </p:nvPr>
        </p:nvSpPr>
        <p:spPr/>
        <p:txBody>
          <a:bodyPr/>
          <a:lstStyle/>
          <a:p>
            <a:r>
              <a:rPr lang="en-US" dirty="0" err="1"/>
              <a:t>Spargelzeit</a:t>
            </a:r>
            <a:endParaRPr lang="en-US" dirty="0"/>
          </a:p>
          <a:p>
            <a:r>
              <a:rPr lang="de-DE" dirty="0"/>
              <a:t>Luxusgemüse aus dem Mittelmeerraum</a:t>
            </a:r>
          </a:p>
          <a:p>
            <a:r>
              <a:rPr lang="de-DE" dirty="0"/>
              <a:t>Weißes Gold</a:t>
            </a:r>
            <a:endParaRPr lang="en-US" dirty="0"/>
          </a:p>
        </p:txBody>
      </p:sp>
      <p:sp>
        <p:nvSpPr>
          <p:cNvPr id="5" name="TextBox 4">
            <a:extLst>
              <a:ext uri="{FF2B5EF4-FFF2-40B4-BE49-F238E27FC236}">
                <a16:creationId xmlns:a16="http://schemas.microsoft.com/office/drawing/2014/main" id="{B93D0CC5-6BB8-9894-D47C-5613EFDFFC3F}"/>
              </a:ext>
            </a:extLst>
          </p:cNvPr>
          <p:cNvSpPr txBox="1"/>
          <p:nvPr/>
        </p:nvSpPr>
        <p:spPr>
          <a:xfrm>
            <a:off x="6389226" y="6176963"/>
            <a:ext cx="5891514" cy="523220"/>
          </a:xfrm>
          <a:prstGeom prst="rect">
            <a:avLst/>
          </a:prstGeom>
          <a:noFill/>
        </p:spPr>
        <p:txBody>
          <a:bodyPr wrap="square" rtlCol="0">
            <a:spAutoFit/>
          </a:bodyPr>
          <a:lstStyle/>
          <a:p>
            <a:r>
              <a:rPr lang="en-US" sz="1400" dirty="0"/>
              <a:t>https://s7g10.scene7.com/is/image/aldi/E05_Bild_Desktop_Header_Grillen_SpargelGrillen_1200x680_2x?$E05-XL$</a:t>
            </a:r>
          </a:p>
        </p:txBody>
      </p:sp>
      <p:sp>
        <p:nvSpPr>
          <p:cNvPr id="6" name="TextBox 5">
            <a:extLst>
              <a:ext uri="{FF2B5EF4-FFF2-40B4-BE49-F238E27FC236}">
                <a16:creationId xmlns:a16="http://schemas.microsoft.com/office/drawing/2014/main" id="{8AD65FDB-0601-C8FB-853E-2E15FF11617E}"/>
              </a:ext>
            </a:extLst>
          </p:cNvPr>
          <p:cNvSpPr txBox="1"/>
          <p:nvPr/>
        </p:nvSpPr>
        <p:spPr>
          <a:xfrm>
            <a:off x="838200" y="6176963"/>
            <a:ext cx="3671454" cy="523220"/>
          </a:xfrm>
          <a:prstGeom prst="rect">
            <a:avLst/>
          </a:prstGeom>
          <a:noFill/>
        </p:spPr>
        <p:txBody>
          <a:bodyPr wrap="square" rtlCol="0">
            <a:spAutoFit/>
          </a:bodyPr>
          <a:lstStyle/>
          <a:p>
            <a:r>
              <a:rPr lang="en-US" sz="1400" dirty="0"/>
              <a:t>https://wordpress.kpu.ca/foodhistory/2023/02/10/scrumptious-schnitzel/</a:t>
            </a:r>
          </a:p>
        </p:txBody>
      </p:sp>
      <p:pic>
        <p:nvPicPr>
          <p:cNvPr id="2050" name="Picture 2">
            <a:extLst>
              <a:ext uri="{FF2B5EF4-FFF2-40B4-BE49-F238E27FC236}">
                <a16:creationId xmlns:a16="http://schemas.microsoft.com/office/drawing/2014/main" id="{79B7ED7D-A9CA-EF37-05C9-C5079972A21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2533174"/>
            <a:ext cx="5181600" cy="2936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169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CC604-EF37-5BB2-F4A9-CFB462EC2CE0}"/>
              </a:ext>
            </a:extLst>
          </p:cNvPr>
          <p:cNvSpPr>
            <a:spLocks noGrp="1"/>
          </p:cNvSpPr>
          <p:nvPr>
            <p:ph type="title"/>
          </p:nvPr>
        </p:nvSpPr>
        <p:spPr/>
        <p:txBody>
          <a:bodyPr/>
          <a:lstStyle/>
          <a:p>
            <a:r>
              <a:rPr lang="en-US" dirty="0"/>
              <a:t>Schwarzwälder </a:t>
            </a:r>
            <a:r>
              <a:rPr lang="en-US" dirty="0" err="1"/>
              <a:t>Kirschtorte</a:t>
            </a:r>
            <a:endParaRPr lang="en-US" dirty="0"/>
          </a:p>
        </p:txBody>
      </p:sp>
      <p:sp>
        <p:nvSpPr>
          <p:cNvPr id="3" name="Content Placeholder 2">
            <a:extLst>
              <a:ext uri="{FF2B5EF4-FFF2-40B4-BE49-F238E27FC236}">
                <a16:creationId xmlns:a16="http://schemas.microsoft.com/office/drawing/2014/main" id="{04758BA8-9FF0-943A-9998-9316EAB727F8}"/>
              </a:ext>
            </a:extLst>
          </p:cNvPr>
          <p:cNvSpPr>
            <a:spLocks noGrp="1"/>
          </p:cNvSpPr>
          <p:nvPr>
            <p:ph sz="half" idx="1"/>
          </p:nvPr>
        </p:nvSpPr>
        <p:spPr/>
        <p:txBody>
          <a:bodyPr/>
          <a:lstStyle/>
          <a:p>
            <a:r>
              <a:rPr lang="de-DE" dirty="0"/>
              <a:t>Traditionelles deutsches Dessert</a:t>
            </a:r>
          </a:p>
          <a:p>
            <a:r>
              <a:rPr lang="de-DE" dirty="0"/>
              <a:t>Stammt aus der Schwarzwaldregion</a:t>
            </a:r>
          </a:p>
          <a:p>
            <a:r>
              <a:rPr lang="de-DE" dirty="0"/>
              <a:t>Verbreitete sich weltweit, als Deutsche in andere Länder auswanderten</a:t>
            </a:r>
            <a:endParaRPr lang="en-US" dirty="0"/>
          </a:p>
        </p:txBody>
      </p:sp>
      <p:pic>
        <p:nvPicPr>
          <p:cNvPr id="1026" name="Picture 2" descr="MY CAKE WORLD Cream Slices 450 g, Black Forest Cherry">
            <a:extLst>
              <a:ext uri="{FF2B5EF4-FFF2-40B4-BE49-F238E27FC236}">
                <a16:creationId xmlns:a16="http://schemas.microsoft.com/office/drawing/2014/main" id="{E64D7359-9FBB-9009-DF27-C94F722E010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587331" y="1825625"/>
            <a:ext cx="4351338"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16C59DF-068D-014A-D3BA-4F36C9ACEF55}"/>
              </a:ext>
            </a:extLst>
          </p:cNvPr>
          <p:cNvSpPr txBox="1"/>
          <p:nvPr/>
        </p:nvSpPr>
        <p:spPr>
          <a:xfrm>
            <a:off x="6389226" y="6176963"/>
            <a:ext cx="5891514" cy="307777"/>
          </a:xfrm>
          <a:prstGeom prst="rect">
            <a:avLst/>
          </a:prstGeom>
          <a:noFill/>
        </p:spPr>
        <p:txBody>
          <a:bodyPr wrap="square" rtlCol="0">
            <a:spAutoFit/>
          </a:bodyPr>
          <a:lstStyle/>
          <a:p>
            <a:r>
              <a:rPr lang="en-US" sz="1400" dirty="0"/>
              <a:t>https://s7g10.scene7.com/is/image/aldi/202407250374?$H10-XL$</a:t>
            </a:r>
          </a:p>
        </p:txBody>
      </p:sp>
      <p:sp>
        <p:nvSpPr>
          <p:cNvPr id="6" name="TextBox 5">
            <a:extLst>
              <a:ext uri="{FF2B5EF4-FFF2-40B4-BE49-F238E27FC236}">
                <a16:creationId xmlns:a16="http://schemas.microsoft.com/office/drawing/2014/main" id="{7F196311-ACB4-0C5A-BC51-F9E08F7A4D93}"/>
              </a:ext>
            </a:extLst>
          </p:cNvPr>
          <p:cNvSpPr txBox="1"/>
          <p:nvPr/>
        </p:nvSpPr>
        <p:spPr>
          <a:xfrm>
            <a:off x="838200" y="6176963"/>
            <a:ext cx="3671454" cy="738664"/>
          </a:xfrm>
          <a:prstGeom prst="rect">
            <a:avLst/>
          </a:prstGeom>
          <a:noFill/>
        </p:spPr>
        <p:txBody>
          <a:bodyPr wrap="square" rtlCol="0">
            <a:spAutoFit/>
          </a:bodyPr>
          <a:lstStyle/>
          <a:p>
            <a:r>
              <a:rPr lang="en-US" sz="1400" dirty="0"/>
              <a:t>https://jackandbeyond.com/blogs/cake-resources/the-surprising-history-of-black-forest-cake</a:t>
            </a:r>
          </a:p>
        </p:txBody>
      </p:sp>
    </p:spTree>
    <p:extLst>
      <p:ext uri="{BB962C8B-B14F-4D97-AF65-F5344CB8AC3E}">
        <p14:creationId xmlns:p14="http://schemas.microsoft.com/office/powerpoint/2010/main" val="1055193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6D37B0-7924-3836-AC2A-5C148C2E3AE0}"/>
              </a:ext>
            </a:extLst>
          </p:cNvPr>
          <p:cNvSpPr>
            <a:spLocks noGrp="1"/>
          </p:cNvSpPr>
          <p:nvPr>
            <p:ph type="title"/>
          </p:nvPr>
        </p:nvSpPr>
        <p:spPr/>
        <p:txBody>
          <a:bodyPr/>
          <a:lstStyle/>
          <a:p>
            <a:r>
              <a:rPr lang="en-US" dirty="0"/>
              <a:t>Sources</a:t>
            </a:r>
          </a:p>
        </p:txBody>
      </p:sp>
      <p:sp>
        <p:nvSpPr>
          <p:cNvPr id="6" name="Content Placeholder 5">
            <a:extLst>
              <a:ext uri="{FF2B5EF4-FFF2-40B4-BE49-F238E27FC236}">
                <a16:creationId xmlns:a16="http://schemas.microsoft.com/office/drawing/2014/main" id="{676DF4FB-E9F4-D3A9-7630-804623198984}"/>
              </a:ext>
            </a:extLst>
          </p:cNvPr>
          <p:cNvSpPr>
            <a:spLocks noGrp="1"/>
          </p:cNvSpPr>
          <p:nvPr>
            <p:ph idx="1"/>
          </p:nvPr>
        </p:nvSpPr>
        <p:spPr>
          <a:xfrm>
            <a:off x="838200" y="1825625"/>
            <a:ext cx="10515600" cy="4862558"/>
          </a:xfrm>
        </p:spPr>
        <p:txBody>
          <a:bodyPr>
            <a:normAutofit lnSpcReduction="10000"/>
          </a:bodyPr>
          <a:lstStyle/>
          <a:p>
            <a:r>
              <a:rPr lang="en-US" sz="1600" dirty="0"/>
              <a:t>ALDI SÜD. “GOURMET Spätzle.” ALDI SÜD, www.aldi-sued.de/de/p.gourmet-spaetzle--g-eierspaetzle.000000000277810003.html?search=spatzel. Accessed 4 Nov. 2025.</a:t>
            </a:r>
          </a:p>
          <a:p>
            <a:r>
              <a:rPr lang="en-US" sz="1600" dirty="0"/>
              <a:t>ALDI SÜD. “KERRYGOLD </a:t>
            </a:r>
            <a:r>
              <a:rPr lang="en-US" sz="1600" dirty="0" err="1"/>
              <a:t>Scheibenkäse</a:t>
            </a:r>
            <a:r>
              <a:rPr lang="en-US" sz="1600" dirty="0"/>
              <a:t>.” ALDI SÜD, www.aldi-sued.de/de/p.kerrygold-scheibenkaese-mix--butterkaese.000000000695589003.html?search=butterkase. Accessed 4 Nov. 2025.</a:t>
            </a:r>
          </a:p>
          <a:p>
            <a:r>
              <a:rPr lang="en-US" sz="1600" dirty="0"/>
              <a:t>ALDI SÜD. “Schwarzwälder Kirsch.” ALDI SÜD, </a:t>
            </a:r>
            <a:r>
              <a:rPr lang="en-US" sz="1600" dirty="0">
                <a:hlinkClick r:id="rId2"/>
              </a:rPr>
              <a:t>www.aldi-sued.de/de/p.meine-kuchenwelt-sahneschnitten--g-schwarzwaelder-kirsch.000000000191740001.html. Accessed 4 Nov. 2025</a:t>
            </a:r>
            <a:r>
              <a:rPr lang="en-US" sz="1600" dirty="0"/>
              <a:t>.</a:t>
            </a:r>
          </a:p>
          <a:p>
            <a:r>
              <a:rPr lang="en-US" sz="1600" dirty="0"/>
              <a:t>ALDI SÜD. “</a:t>
            </a:r>
            <a:r>
              <a:rPr lang="en-US" sz="1600" dirty="0" err="1"/>
              <a:t>Spargel</a:t>
            </a:r>
            <a:r>
              <a:rPr lang="en-US" sz="1600" dirty="0"/>
              <a:t> </a:t>
            </a:r>
            <a:r>
              <a:rPr lang="en-US" sz="1600" dirty="0" err="1"/>
              <a:t>Grillen</a:t>
            </a:r>
            <a:r>
              <a:rPr lang="en-US" sz="1600" dirty="0"/>
              <a:t> – Tipps Und </a:t>
            </a:r>
            <a:r>
              <a:rPr lang="en-US" sz="1600" dirty="0" err="1"/>
              <a:t>Anleitungen</a:t>
            </a:r>
            <a:r>
              <a:rPr lang="en-US" sz="1600" dirty="0"/>
              <a:t> | ALDI SÜD.” ALDI SÜD, www.aldi-sued.de/de/rezepte/spezielles-und-saisonales/grillen/spargel-grillen.html. Accessed 4 Nov. 2025</a:t>
            </a:r>
          </a:p>
          <a:p>
            <a:r>
              <a:rPr lang="en-US" sz="1600" dirty="0"/>
              <a:t>“Cheese Lover’s Guide to </a:t>
            </a:r>
            <a:r>
              <a:rPr lang="en-US" sz="1600" dirty="0" err="1"/>
              <a:t>Butterkäse</a:t>
            </a:r>
            <a:r>
              <a:rPr lang="en-US" sz="1600" dirty="0"/>
              <a:t>.” Wisconsin Cheese, 12 Oct. 2022, www.wisconsincheese.com/the-cheese-life/article/151/butterkase. Accessed 4 Nov. 2025.</a:t>
            </a:r>
          </a:p>
          <a:p>
            <a:r>
              <a:rPr lang="en-US" sz="1600" dirty="0"/>
              <a:t>“The History of Spaetzle.” Kitchen Project, www.kitchenproject.com/german/recipes/Spaetzle/History.htm. Accessed 4 Nov. 2025.</a:t>
            </a:r>
          </a:p>
          <a:p>
            <a:r>
              <a:rPr lang="en-US" sz="1600" dirty="0"/>
              <a:t>Krishna, Priya. “How Did Black Forest Cake Become the World’s Favorite Dessert?” The New York Times, 29 Apr. 2024, www.nytimes.com/2024/04/29/dining/black-forest-cake.html. Accessed 4 Nov. 2025.</a:t>
            </a:r>
          </a:p>
          <a:p>
            <a:r>
              <a:rPr lang="en-US" sz="1600" dirty="0"/>
              <a:t>Rakowski, Kaya. “Scrumptious Schnitzel!” Food in History, 10 Feb. 2023, wordpress.kpu.ca/</a:t>
            </a:r>
            <a:r>
              <a:rPr lang="en-US" sz="1600" dirty="0" err="1"/>
              <a:t>foodhistory</a:t>
            </a:r>
            <a:r>
              <a:rPr lang="en-US" sz="1600" dirty="0"/>
              <a:t>/2023/02/10/scrumptious-schnitzel. Accessed 4 Nov. 2025.</a:t>
            </a:r>
          </a:p>
          <a:p>
            <a:r>
              <a:rPr lang="en-US" sz="1600" dirty="0"/>
              <a:t>“The Surprising History of Black Forest Cake.” Jack and Beyond, 22 Jan. 2024, jackandbeyond.com/blogs/cake-resources/the-surprising-history-of-black-forest-cake. Accessed 4 Nov. 2025.</a:t>
            </a:r>
          </a:p>
        </p:txBody>
      </p:sp>
    </p:spTree>
    <p:extLst>
      <p:ext uri="{BB962C8B-B14F-4D97-AF65-F5344CB8AC3E}">
        <p14:creationId xmlns:p14="http://schemas.microsoft.com/office/powerpoint/2010/main" val="2153948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TotalTime>
  <Words>1673</Words>
  <Application>Microsoft Office PowerPoint</Application>
  <PresentationFormat>Widescreen</PresentationFormat>
  <Paragraphs>59</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Woche 11: Cultural Presentation</vt:lpstr>
      <vt:lpstr>Butterkäse</vt:lpstr>
      <vt:lpstr>Schnitzel</vt:lpstr>
      <vt:lpstr>Spätzle</vt:lpstr>
      <vt:lpstr>Spargel</vt:lpstr>
      <vt:lpstr>Schwarzwälder Kirschtorte</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Kyle Lund</dc:creator>
  <cp:lastModifiedBy>Kyle Lund</cp:lastModifiedBy>
  <cp:revision>12</cp:revision>
  <dcterms:created xsi:type="dcterms:W3CDTF">2025-11-04T19:22:45Z</dcterms:created>
  <dcterms:modified xsi:type="dcterms:W3CDTF">2025-11-09T00:17:38Z</dcterms:modified>
</cp:coreProperties>
</file>