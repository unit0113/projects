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376" r:id="rId2"/>
    <p:sldId id="378" r:id="rId3"/>
    <p:sldId id="381" r:id="rId4"/>
    <p:sldId id="382"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4660"/>
  </p:normalViewPr>
  <p:slideViewPr>
    <p:cSldViewPr snapToGrid="0">
      <p:cViewPr varScale="1">
        <p:scale>
          <a:sx n="102" d="100"/>
          <a:sy n="102" d="100"/>
        </p:scale>
        <p:origin x="296"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355AEF-8134-42A2-B0E5-213A5B141E97}" type="datetimeFigureOut">
              <a:rPr lang="en-US" smtClean="0"/>
              <a:t>7/21/2025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C98A89-D447-4B47-A799-4A72AF9CCBBE}" type="slidenum">
              <a:rPr lang="en-US" smtClean="0"/>
              <a:t>‹#›</a:t>
            </a:fld>
            <a:endParaRPr lang="en-US"/>
          </a:p>
        </p:txBody>
      </p:sp>
    </p:spTree>
    <p:extLst>
      <p:ext uri="{BB962C8B-B14F-4D97-AF65-F5344CB8AC3E}">
        <p14:creationId xmlns:p14="http://schemas.microsoft.com/office/powerpoint/2010/main" val="2815589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anose="020B0604020202020204" pitchFamily="34" charset="0"/>
              <a:buNone/>
            </a:pPr>
            <a:endParaRPr lang="en-US" sz="1200" dirty="0">
              <a:solidFill>
                <a:srgbClr val="0021A5"/>
              </a:solidFill>
              <a:ea typeface="Gentona Book"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D4255EE0-22BF-42CA-84DC-94C50B8DD610}" type="slidenum">
              <a:rPr lang="en-US" smtClean="0"/>
              <a:pPr/>
              <a:t>1</a:t>
            </a:fld>
            <a:endParaRPr lang="en-US"/>
          </a:p>
        </p:txBody>
      </p:sp>
    </p:spTree>
    <p:extLst>
      <p:ext uri="{BB962C8B-B14F-4D97-AF65-F5344CB8AC3E}">
        <p14:creationId xmlns:p14="http://schemas.microsoft.com/office/powerpoint/2010/main" val="542162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anose="020B0604020202020204" pitchFamily="34" charset="0"/>
              <a:buNone/>
            </a:pPr>
            <a:endParaRPr lang="en-US" sz="1200" dirty="0">
              <a:solidFill>
                <a:srgbClr val="0021A5"/>
              </a:solidFill>
              <a:ea typeface="Gentona Book"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D4255EE0-22BF-42CA-84DC-94C50B8DD610}" type="slidenum">
              <a:rPr lang="en-US" smtClean="0"/>
              <a:pPr/>
              <a:t>2</a:t>
            </a:fld>
            <a:endParaRPr lang="en-US"/>
          </a:p>
        </p:txBody>
      </p:sp>
    </p:spTree>
    <p:extLst>
      <p:ext uri="{BB962C8B-B14F-4D97-AF65-F5344CB8AC3E}">
        <p14:creationId xmlns:p14="http://schemas.microsoft.com/office/powerpoint/2010/main" val="563121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anose="020B0604020202020204" pitchFamily="34" charset="0"/>
              <a:buNone/>
            </a:pPr>
            <a:endParaRPr lang="en-US" sz="1200" dirty="0">
              <a:solidFill>
                <a:srgbClr val="0021A5"/>
              </a:solidFill>
              <a:ea typeface="Gentona Book"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D4255EE0-22BF-42CA-84DC-94C50B8DD610}" type="slidenum">
              <a:rPr lang="en-US" smtClean="0"/>
              <a:pPr/>
              <a:t>3</a:t>
            </a:fld>
            <a:endParaRPr lang="en-US"/>
          </a:p>
        </p:txBody>
      </p:sp>
    </p:spTree>
    <p:extLst>
      <p:ext uri="{BB962C8B-B14F-4D97-AF65-F5344CB8AC3E}">
        <p14:creationId xmlns:p14="http://schemas.microsoft.com/office/powerpoint/2010/main" val="4229148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anose="020B0604020202020204" pitchFamily="34" charset="0"/>
              <a:buNone/>
            </a:pPr>
            <a:endParaRPr lang="en-US" sz="1200" dirty="0">
              <a:solidFill>
                <a:srgbClr val="0021A5"/>
              </a:solidFill>
              <a:ea typeface="Gentona Book"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D4255EE0-22BF-42CA-84DC-94C50B8DD610}" type="slidenum">
              <a:rPr lang="en-US" smtClean="0"/>
              <a:pPr/>
              <a:t>4</a:t>
            </a:fld>
            <a:endParaRPr lang="en-US"/>
          </a:p>
        </p:txBody>
      </p:sp>
    </p:spTree>
    <p:extLst>
      <p:ext uri="{BB962C8B-B14F-4D97-AF65-F5344CB8AC3E}">
        <p14:creationId xmlns:p14="http://schemas.microsoft.com/office/powerpoint/2010/main" val="4291145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FA075-229C-4F09-AC8E-5912057204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260CF4-9149-4608-AF37-8E4CAC9279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145442-6548-4514-A470-1561F836FEC6}"/>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5" name="Footer Placeholder 4">
            <a:extLst>
              <a:ext uri="{FF2B5EF4-FFF2-40B4-BE49-F238E27FC236}">
                <a16:creationId xmlns:a16="http://schemas.microsoft.com/office/drawing/2014/main" id="{4665F0D8-9BD3-4E21-8810-E2ECB5062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292CC-413D-48A7-9106-FC8F59100498}"/>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1743525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E81D5-F85E-46D9-80A9-F2F573F21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C73DFE-179C-4BB3-8954-9ED05CB636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01E726-641E-4F6B-8676-7D35FEE7C591}"/>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5" name="Footer Placeholder 4">
            <a:extLst>
              <a:ext uri="{FF2B5EF4-FFF2-40B4-BE49-F238E27FC236}">
                <a16:creationId xmlns:a16="http://schemas.microsoft.com/office/drawing/2014/main" id="{764E6DD9-7CD8-424B-8E3E-69FD02BA83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D1E57-2F7D-42EC-9636-4FC755A79470}"/>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2712996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B895-F07D-4CD8-AC34-D5F9D47DC6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216153-8C5B-47F1-953E-2A9BF631A9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CBDAE6-2059-4B92-B195-26631F29BEF0}"/>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5" name="Footer Placeholder 4">
            <a:extLst>
              <a:ext uri="{FF2B5EF4-FFF2-40B4-BE49-F238E27FC236}">
                <a16:creationId xmlns:a16="http://schemas.microsoft.com/office/drawing/2014/main" id="{49961987-0C11-4B02-8CAB-0961A1B7DF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674E5-FDC0-4D1D-9D42-F67BA4C3DEF4}"/>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2280634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CE07D-6991-4E14-AE3F-0343C447EF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E88116-8DFD-4627-AB37-11FD05D192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BB9DAA-ABC0-40BC-B8A1-8B5F49CAD8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2FEECE-11C1-4786-84D2-357F9B2789D8}"/>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6" name="Footer Placeholder 5">
            <a:extLst>
              <a:ext uri="{FF2B5EF4-FFF2-40B4-BE49-F238E27FC236}">
                <a16:creationId xmlns:a16="http://schemas.microsoft.com/office/drawing/2014/main" id="{42D2FF36-D572-46DD-A45D-0090F2B982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217EC8-2A87-42D8-BFDE-3D22DD6BF07A}"/>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1957926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9BBEA-7CB4-4D5B-9A23-6DD5EF7D1F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FC424D-523A-405A-9970-2EFE91CAFC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90E525-437F-42FF-8307-9D17002521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A6EE62-01BD-4DCB-8C69-27BBBE875A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652D58-AD68-4CF5-B086-6A71BF835A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94241F-CB37-41E2-8A75-49E0E2B5627C}"/>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8" name="Footer Placeholder 7">
            <a:extLst>
              <a:ext uri="{FF2B5EF4-FFF2-40B4-BE49-F238E27FC236}">
                <a16:creationId xmlns:a16="http://schemas.microsoft.com/office/drawing/2014/main" id="{F78A734B-56FF-4C69-98C9-2DD748B267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CBC93F-47FE-4098-83DE-A5B0B39F41C0}"/>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2143659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3DEC-9D2B-4BA4-9EE2-BE75D6DE92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596793-263D-48EB-9517-CB608CCF68DA}"/>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4" name="Footer Placeholder 3">
            <a:extLst>
              <a:ext uri="{FF2B5EF4-FFF2-40B4-BE49-F238E27FC236}">
                <a16:creationId xmlns:a16="http://schemas.microsoft.com/office/drawing/2014/main" id="{FAC4511C-0D87-49B5-9D81-40B1715735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DBE234-DE86-405F-A96C-832D54E2872C}"/>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4249428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DA918A-B8EB-49AA-A699-E17CEA0D7180}"/>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3" name="Footer Placeholder 2">
            <a:extLst>
              <a:ext uri="{FF2B5EF4-FFF2-40B4-BE49-F238E27FC236}">
                <a16:creationId xmlns:a16="http://schemas.microsoft.com/office/drawing/2014/main" id="{ADB2DA88-3942-46AE-BABE-D80E8167F5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DCE2CB-A990-4F96-996F-3184AC5A8D98}"/>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315170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BBDC9-E03F-4B70-A8D2-039B9E1DE7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304CD2-7442-4A0A-978B-1BDFB59375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A0F7FE-462F-490C-A032-BC5B10BDC2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D1220F-4827-4F78-B462-5510B6D72088}"/>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6" name="Footer Placeholder 5">
            <a:extLst>
              <a:ext uri="{FF2B5EF4-FFF2-40B4-BE49-F238E27FC236}">
                <a16:creationId xmlns:a16="http://schemas.microsoft.com/office/drawing/2014/main" id="{8B41BA5F-E6C5-4469-9E7B-DA06B6C7A9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6D7D-7FE7-44BC-9036-05349A83DB28}"/>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3165042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6C2AE-616A-4510-A65C-3617359D15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BCB338-8ECA-4D2B-9977-83E59FB1D6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EACCF9-4ECE-42F3-8635-6AD4EEF0E2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09F20-ACF6-4F70-B4FD-B582724329DD}"/>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6" name="Footer Placeholder 5">
            <a:extLst>
              <a:ext uri="{FF2B5EF4-FFF2-40B4-BE49-F238E27FC236}">
                <a16:creationId xmlns:a16="http://schemas.microsoft.com/office/drawing/2014/main" id="{7AF98E57-F7BF-44E2-8AEE-D33E247F9B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EA6E8E-F706-487D-93EA-708B9817FD4E}"/>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795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D8906-2F15-43AC-B136-27E92402BB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E396EC-D26D-48FE-A5BF-A6C36CA5BC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85FC6C-0EFB-40A4-93B4-378F4F174B43}"/>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5" name="Footer Placeholder 4">
            <a:extLst>
              <a:ext uri="{FF2B5EF4-FFF2-40B4-BE49-F238E27FC236}">
                <a16:creationId xmlns:a16="http://schemas.microsoft.com/office/drawing/2014/main" id="{A33202AF-9E10-4D91-B1B7-C79B88B76D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5215C3-62D1-483D-9A1F-99CBAE6384D9}"/>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2177483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23331-3AB2-404A-9775-9BF7C12660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CB4AF1-6BF6-46FE-ABBF-9F4C93550F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466269-EC78-4916-8DCB-D28146C38138}"/>
              </a:ext>
            </a:extLst>
          </p:cNvPr>
          <p:cNvSpPr>
            <a:spLocks noGrp="1"/>
          </p:cNvSpPr>
          <p:nvPr>
            <p:ph type="dt" sz="half" idx="10"/>
          </p:nvPr>
        </p:nvSpPr>
        <p:spPr/>
        <p:txBody>
          <a:bodyPr/>
          <a:lstStyle/>
          <a:p>
            <a:fld id="{A5F29792-7F39-42D1-AD54-8D1DF99257AE}" type="datetimeFigureOut">
              <a:rPr lang="en-US" smtClean="0"/>
              <a:t>7/21/2025</a:t>
            </a:fld>
            <a:endParaRPr lang="en-US"/>
          </a:p>
        </p:txBody>
      </p:sp>
      <p:sp>
        <p:nvSpPr>
          <p:cNvPr id="5" name="Footer Placeholder 4">
            <a:extLst>
              <a:ext uri="{FF2B5EF4-FFF2-40B4-BE49-F238E27FC236}">
                <a16:creationId xmlns:a16="http://schemas.microsoft.com/office/drawing/2014/main" id="{57CCB3AD-32A5-4990-9789-969F7B9F26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81C47-6E89-40AE-9A48-FABA5020CB2D}"/>
              </a:ext>
            </a:extLst>
          </p:cNvPr>
          <p:cNvSpPr>
            <a:spLocks noGrp="1"/>
          </p:cNvSpPr>
          <p:nvPr>
            <p:ph type="sldNum" sz="quarter" idx="12"/>
          </p:nvPr>
        </p:nvSpPr>
        <p:spPr/>
        <p:txBody>
          <a:bodyPr/>
          <a:lstStyle/>
          <a:p>
            <a:fld id="{C7715736-26D0-407F-B01E-2864BD02F919}" type="slidenum">
              <a:rPr lang="en-US" smtClean="0"/>
              <a:t>‹#›</a:t>
            </a:fld>
            <a:endParaRPr lang="en-US"/>
          </a:p>
        </p:txBody>
      </p:sp>
    </p:spTree>
    <p:extLst>
      <p:ext uri="{BB962C8B-B14F-4D97-AF65-F5344CB8AC3E}">
        <p14:creationId xmlns:p14="http://schemas.microsoft.com/office/powerpoint/2010/main" val="3451730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B371DB-0D41-4A64-B817-133F014FC9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C41767-3BD8-49A7-A9D9-688BCDDC8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3284E4-75C1-4849-B84E-EAA8439510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F29792-7F39-42D1-AD54-8D1DF99257AE}" type="datetimeFigureOut">
              <a:rPr lang="en-US" smtClean="0"/>
              <a:t>7/21/2025</a:t>
            </a:fld>
            <a:endParaRPr lang="en-US"/>
          </a:p>
        </p:txBody>
      </p:sp>
      <p:sp>
        <p:nvSpPr>
          <p:cNvPr id="5" name="Footer Placeholder 4">
            <a:extLst>
              <a:ext uri="{FF2B5EF4-FFF2-40B4-BE49-F238E27FC236}">
                <a16:creationId xmlns:a16="http://schemas.microsoft.com/office/drawing/2014/main" id="{EE9A59E4-2A89-4787-8609-6E234C37C8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D7FC38-F1FE-4A11-ADF6-1AC8CC5F62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715736-26D0-407F-B01E-2864BD02F919}" type="slidenum">
              <a:rPr lang="en-US" smtClean="0"/>
              <a:t>‹#›</a:t>
            </a:fld>
            <a:endParaRPr lang="en-US"/>
          </a:p>
        </p:txBody>
      </p:sp>
    </p:spTree>
    <p:extLst>
      <p:ext uri="{BB962C8B-B14F-4D97-AF65-F5344CB8AC3E}">
        <p14:creationId xmlns:p14="http://schemas.microsoft.com/office/powerpoint/2010/main" val="3163054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mamvas.blogspot.com/2012/01/china-y-estados-unidos-rivales-o.htm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a:extLst>
              <a:ext uri="{FF2B5EF4-FFF2-40B4-BE49-F238E27FC236}">
                <a16:creationId xmlns:a16="http://schemas.microsoft.com/office/drawing/2014/main" id="{2486D985-4054-4A5D-9303-5AB4C0192F61}"/>
              </a:ext>
            </a:extLst>
          </p:cNvPr>
          <p:cNvGraphicFramePr>
            <a:graphicFrameLocks noGrp="1"/>
          </p:cNvGraphicFramePr>
          <p:nvPr>
            <p:extLst>
              <p:ext uri="{D42A27DB-BD31-4B8C-83A1-F6EECF244321}">
                <p14:modId xmlns:p14="http://schemas.microsoft.com/office/powerpoint/2010/main" val="424884410"/>
              </p:ext>
            </p:extLst>
          </p:nvPr>
        </p:nvGraphicFramePr>
        <p:xfrm>
          <a:off x="243114" y="872455"/>
          <a:ext cx="11705772" cy="5756945"/>
        </p:xfrm>
        <a:graphic>
          <a:graphicData uri="http://schemas.openxmlformats.org/drawingml/2006/table">
            <a:tbl>
              <a:tblPr firstRow="1" bandRow="1">
                <a:tableStyleId>{5940675A-B579-460E-94D1-54222C63F5DA}</a:tableStyleId>
              </a:tblPr>
              <a:tblGrid>
                <a:gridCol w="5070268">
                  <a:extLst>
                    <a:ext uri="{9D8B030D-6E8A-4147-A177-3AD203B41FA5}">
                      <a16:colId xmlns:a16="http://schemas.microsoft.com/office/drawing/2014/main" val="3823543657"/>
                    </a:ext>
                  </a:extLst>
                </a:gridCol>
                <a:gridCol w="4092246">
                  <a:extLst>
                    <a:ext uri="{9D8B030D-6E8A-4147-A177-3AD203B41FA5}">
                      <a16:colId xmlns:a16="http://schemas.microsoft.com/office/drawing/2014/main" val="4079597162"/>
                    </a:ext>
                  </a:extLst>
                </a:gridCol>
                <a:gridCol w="2543258">
                  <a:extLst>
                    <a:ext uri="{9D8B030D-6E8A-4147-A177-3AD203B41FA5}">
                      <a16:colId xmlns:a16="http://schemas.microsoft.com/office/drawing/2014/main" val="2208191379"/>
                    </a:ext>
                  </a:extLst>
                </a:gridCol>
              </a:tblGrid>
              <a:tr h="2432177">
                <a:tc>
                  <a:txBody>
                    <a:bodyPr/>
                    <a:lstStyle/>
                    <a:p>
                      <a:r>
                        <a:rPr lang="en-US" b="1" dirty="0">
                          <a:latin typeface="Arial" panose="020B0604020202020204" pitchFamily="34" charset="0"/>
                          <a:cs typeface="Arial" panose="020B0604020202020204" pitchFamily="34" charset="0"/>
                        </a:rPr>
                        <a:t>Glossary Definition:</a:t>
                      </a:r>
                    </a:p>
                  </a:txBody>
                  <a:tcPr/>
                </a:tc>
                <a:tc>
                  <a:txBody>
                    <a:bodyPr/>
                    <a:lstStyle/>
                    <a:p>
                      <a:r>
                        <a:rPr lang="en-US" b="1" dirty="0">
                          <a:latin typeface="Arial" panose="020B0604020202020204" pitchFamily="34" charset="0"/>
                          <a:cs typeface="Arial" panose="020B0604020202020204" pitchFamily="34" charset="0"/>
                        </a:rPr>
                        <a:t>Examples:</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Related Words:</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13523141"/>
                  </a:ext>
                </a:extLst>
              </a:tr>
              <a:tr h="33247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My Definition:</a:t>
                      </a:r>
                    </a:p>
                    <a:p>
                      <a:endParaRPr lang="en-US" dirty="0">
                        <a:latin typeface="Arial" panose="020B0604020202020204" pitchFamily="34" charset="0"/>
                        <a:cs typeface="Arial" panose="020B0604020202020204" pitchFamily="34"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Picture:</a:t>
                      </a:r>
                    </a:p>
                    <a:p>
                      <a:endParaRPr lang="en-US" dirty="0">
                        <a:latin typeface="Arial" panose="020B0604020202020204" pitchFamily="34" charset="0"/>
                        <a:cs typeface="Arial" panose="020B0604020202020204" pitchFamily="34" charset="0"/>
                      </a:endParaRPr>
                    </a:p>
                  </a:txBody>
                  <a:tcPr/>
                </a:tc>
                <a:tc hMerge="1">
                  <a:txBody>
                    <a:bodyPr/>
                    <a:lstStyle/>
                    <a:p>
                      <a:endParaRPr lang="en-US" dirty="0"/>
                    </a:p>
                  </a:txBody>
                  <a:tcPr/>
                </a:tc>
                <a:extLst>
                  <a:ext uri="{0D108BD9-81ED-4DB2-BD59-A6C34878D82A}">
                    <a16:rowId xmlns:a16="http://schemas.microsoft.com/office/drawing/2014/main" val="882118654"/>
                  </a:ext>
                </a:extLst>
              </a:tr>
            </a:tbl>
          </a:graphicData>
        </a:graphic>
      </p:graphicFrame>
      <p:sp>
        <p:nvSpPr>
          <p:cNvPr id="11" name="TextBox 10">
            <a:extLst>
              <a:ext uri="{FF2B5EF4-FFF2-40B4-BE49-F238E27FC236}">
                <a16:creationId xmlns:a16="http://schemas.microsoft.com/office/drawing/2014/main" id="{E3B9F593-37D1-4BE1-AFBD-3B6946A4C2F1}"/>
              </a:ext>
            </a:extLst>
          </p:cNvPr>
          <p:cNvSpPr txBox="1"/>
          <p:nvPr/>
        </p:nvSpPr>
        <p:spPr>
          <a:xfrm>
            <a:off x="243114" y="3033638"/>
            <a:ext cx="4320497"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citation (book/article/site you searched. Ex. Knox et al. 2015 </a:t>
            </a:r>
          </a:p>
        </p:txBody>
      </p:sp>
      <p:sp>
        <p:nvSpPr>
          <p:cNvPr id="2" name="TextBox 1">
            <a:extLst>
              <a:ext uri="{FF2B5EF4-FFF2-40B4-BE49-F238E27FC236}">
                <a16:creationId xmlns:a16="http://schemas.microsoft.com/office/drawing/2014/main" id="{32F25F07-E6E5-4425-8289-F78C50D240BD}"/>
              </a:ext>
            </a:extLst>
          </p:cNvPr>
          <p:cNvSpPr txBox="1"/>
          <p:nvPr/>
        </p:nvSpPr>
        <p:spPr>
          <a:xfrm>
            <a:off x="243114" y="1429515"/>
            <a:ext cx="4702628"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An extremely powerful national capable of influencing international events and the acts and policies of less powerful nations.</a:t>
            </a:r>
          </a:p>
        </p:txBody>
      </p:sp>
      <p:sp>
        <p:nvSpPr>
          <p:cNvPr id="3" name="TextBox 2">
            <a:extLst>
              <a:ext uri="{FF2B5EF4-FFF2-40B4-BE49-F238E27FC236}">
                <a16:creationId xmlns:a16="http://schemas.microsoft.com/office/drawing/2014/main" id="{962E33E5-8716-4C5F-A47D-B6D3BBC8A2D7}"/>
              </a:ext>
            </a:extLst>
          </p:cNvPr>
          <p:cNvSpPr txBox="1"/>
          <p:nvPr/>
        </p:nvSpPr>
        <p:spPr>
          <a:xfrm>
            <a:off x="-199938" y="53571"/>
            <a:ext cx="6233021" cy="707886"/>
          </a:xfrm>
          <a:prstGeom prst="rect">
            <a:avLst/>
          </a:prstGeom>
          <a:noFill/>
        </p:spPr>
        <p:txBody>
          <a:bodyPr wrap="square" rtlCol="0">
            <a:spAutoFit/>
          </a:bodyPr>
          <a:lstStyle/>
          <a:p>
            <a:pPr algn="ctr"/>
            <a:r>
              <a:rPr lang="en-US" sz="4000" dirty="0">
                <a:latin typeface="Arial" panose="020B0604020202020204" pitchFamily="34" charset="0"/>
                <a:cs typeface="Arial" panose="020B0604020202020204" pitchFamily="34" charset="0"/>
              </a:rPr>
              <a:t>Super Power (Example) </a:t>
            </a:r>
          </a:p>
        </p:txBody>
      </p:sp>
      <p:sp>
        <p:nvSpPr>
          <p:cNvPr id="6" name="TextBox 5">
            <a:extLst>
              <a:ext uri="{FF2B5EF4-FFF2-40B4-BE49-F238E27FC236}">
                <a16:creationId xmlns:a16="http://schemas.microsoft.com/office/drawing/2014/main" id="{479FB8AA-8A2E-4C91-B1F8-835A20F5F26D}"/>
              </a:ext>
            </a:extLst>
          </p:cNvPr>
          <p:cNvSpPr txBox="1"/>
          <p:nvPr/>
        </p:nvSpPr>
        <p:spPr>
          <a:xfrm>
            <a:off x="5378574" y="1338635"/>
            <a:ext cx="390803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USA, USSR</a:t>
            </a:r>
          </a:p>
          <a:p>
            <a:r>
              <a:rPr lang="en-US" dirty="0">
                <a:latin typeface="Arial" panose="020B0604020202020204" pitchFamily="34" charset="0"/>
                <a:cs typeface="Arial" panose="020B0604020202020204" pitchFamily="34" charset="0"/>
              </a:rPr>
              <a:t>China today</a:t>
            </a:r>
          </a:p>
        </p:txBody>
      </p:sp>
      <p:sp>
        <p:nvSpPr>
          <p:cNvPr id="7" name="TextBox 6">
            <a:extLst>
              <a:ext uri="{FF2B5EF4-FFF2-40B4-BE49-F238E27FC236}">
                <a16:creationId xmlns:a16="http://schemas.microsoft.com/office/drawing/2014/main" id="{7667CAAC-7066-42D4-8C08-4A67505A40A7}"/>
              </a:ext>
            </a:extLst>
          </p:cNvPr>
          <p:cNvSpPr txBox="1"/>
          <p:nvPr/>
        </p:nvSpPr>
        <p:spPr>
          <a:xfrm>
            <a:off x="9406689" y="1338635"/>
            <a:ext cx="234628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Cold War</a:t>
            </a:r>
          </a:p>
          <a:p>
            <a:r>
              <a:rPr lang="en-US" dirty="0">
                <a:latin typeface="Arial" panose="020B0604020202020204" pitchFamily="34" charset="0"/>
                <a:cs typeface="Arial" panose="020B0604020202020204" pitchFamily="34" charset="0"/>
              </a:rPr>
              <a:t>World Systems</a:t>
            </a:r>
          </a:p>
          <a:p>
            <a:r>
              <a:rPr lang="en-US" dirty="0">
                <a:latin typeface="Arial" panose="020B0604020202020204" pitchFamily="34" charset="0"/>
                <a:cs typeface="Arial" panose="020B0604020202020204" pitchFamily="34" charset="0"/>
              </a:rPr>
              <a:t>Core-Periphery</a:t>
            </a:r>
          </a:p>
        </p:txBody>
      </p:sp>
      <p:sp>
        <p:nvSpPr>
          <p:cNvPr id="8" name="TextBox 7">
            <a:extLst>
              <a:ext uri="{FF2B5EF4-FFF2-40B4-BE49-F238E27FC236}">
                <a16:creationId xmlns:a16="http://schemas.microsoft.com/office/drawing/2014/main" id="{10225743-476B-4AF3-B970-8B62EFFD62E9}"/>
              </a:ext>
            </a:extLst>
          </p:cNvPr>
          <p:cNvSpPr txBox="1"/>
          <p:nvPr/>
        </p:nvSpPr>
        <p:spPr>
          <a:xfrm>
            <a:off x="243114" y="3852042"/>
            <a:ext cx="4702628"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 country so powerful they can affect and influence other countries and international policies </a:t>
            </a:r>
          </a:p>
        </p:txBody>
      </p:sp>
      <p:pic>
        <p:nvPicPr>
          <p:cNvPr id="12" name="Picture 11" descr="A picture containing flag&#10;&#10;Description automatically generated">
            <a:extLst>
              <a:ext uri="{FF2B5EF4-FFF2-40B4-BE49-F238E27FC236}">
                <a16:creationId xmlns:a16="http://schemas.microsoft.com/office/drawing/2014/main" id="{CCD2FC03-E899-4C9C-A05F-79BA5FF7526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494884" y="3710767"/>
            <a:ext cx="4403271" cy="2495187"/>
          </a:xfrm>
          <a:prstGeom prst="rect">
            <a:avLst/>
          </a:prstGeom>
        </p:spPr>
      </p:pic>
      <p:sp>
        <p:nvSpPr>
          <p:cNvPr id="14" name="TextBox 13">
            <a:extLst>
              <a:ext uri="{FF2B5EF4-FFF2-40B4-BE49-F238E27FC236}">
                <a16:creationId xmlns:a16="http://schemas.microsoft.com/office/drawing/2014/main" id="{4386FC86-E4A6-4BBB-8EB7-9C607C94ECDD}"/>
              </a:ext>
            </a:extLst>
          </p:cNvPr>
          <p:cNvSpPr txBox="1"/>
          <p:nvPr/>
        </p:nvSpPr>
        <p:spPr>
          <a:xfrm>
            <a:off x="10104372" y="205530"/>
            <a:ext cx="191705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Your name here</a:t>
            </a:r>
          </a:p>
        </p:txBody>
      </p:sp>
    </p:spTree>
    <p:extLst>
      <p:ext uri="{BB962C8B-B14F-4D97-AF65-F5344CB8AC3E}">
        <p14:creationId xmlns:p14="http://schemas.microsoft.com/office/powerpoint/2010/main" val="152767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a:extLst>
              <a:ext uri="{FF2B5EF4-FFF2-40B4-BE49-F238E27FC236}">
                <a16:creationId xmlns:a16="http://schemas.microsoft.com/office/drawing/2014/main" id="{2486D985-4054-4A5D-9303-5AB4C0192F61}"/>
              </a:ext>
            </a:extLst>
          </p:cNvPr>
          <p:cNvGraphicFramePr>
            <a:graphicFrameLocks noGrp="1"/>
          </p:cNvGraphicFramePr>
          <p:nvPr/>
        </p:nvGraphicFramePr>
        <p:xfrm>
          <a:off x="243114" y="872455"/>
          <a:ext cx="11705772" cy="5756945"/>
        </p:xfrm>
        <a:graphic>
          <a:graphicData uri="http://schemas.openxmlformats.org/drawingml/2006/table">
            <a:tbl>
              <a:tblPr firstRow="1" bandRow="1">
                <a:tableStyleId>{5940675A-B579-460E-94D1-54222C63F5DA}</a:tableStyleId>
              </a:tblPr>
              <a:tblGrid>
                <a:gridCol w="5070268">
                  <a:extLst>
                    <a:ext uri="{9D8B030D-6E8A-4147-A177-3AD203B41FA5}">
                      <a16:colId xmlns:a16="http://schemas.microsoft.com/office/drawing/2014/main" val="3823543657"/>
                    </a:ext>
                  </a:extLst>
                </a:gridCol>
                <a:gridCol w="4092246">
                  <a:extLst>
                    <a:ext uri="{9D8B030D-6E8A-4147-A177-3AD203B41FA5}">
                      <a16:colId xmlns:a16="http://schemas.microsoft.com/office/drawing/2014/main" val="4079597162"/>
                    </a:ext>
                  </a:extLst>
                </a:gridCol>
                <a:gridCol w="2543258">
                  <a:extLst>
                    <a:ext uri="{9D8B030D-6E8A-4147-A177-3AD203B41FA5}">
                      <a16:colId xmlns:a16="http://schemas.microsoft.com/office/drawing/2014/main" val="2208191379"/>
                    </a:ext>
                  </a:extLst>
                </a:gridCol>
              </a:tblGrid>
              <a:tr h="2432177">
                <a:tc>
                  <a:txBody>
                    <a:bodyPr/>
                    <a:lstStyle/>
                    <a:p>
                      <a:r>
                        <a:rPr lang="en-US" b="1" dirty="0">
                          <a:latin typeface="Arial" panose="020B0604020202020204" pitchFamily="34" charset="0"/>
                          <a:cs typeface="Arial" panose="020B0604020202020204" pitchFamily="34" charset="0"/>
                        </a:rPr>
                        <a:t>Glossary Definition:</a:t>
                      </a:r>
                    </a:p>
                  </a:txBody>
                  <a:tcPr/>
                </a:tc>
                <a:tc>
                  <a:txBody>
                    <a:bodyPr/>
                    <a:lstStyle/>
                    <a:p>
                      <a:r>
                        <a:rPr lang="en-US" b="1" dirty="0">
                          <a:latin typeface="Arial" panose="020B0604020202020204" pitchFamily="34" charset="0"/>
                          <a:cs typeface="Arial" panose="020B0604020202020204" pitchFamily="34" charset="0"/>
                        </a:rPr>
                        <a:t>Examples:</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Related Words:</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13523141"/>
                  </a:ext>
                </a:extLst>
              </a:tr>
              <a:tr h="33247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My Definition:</a:t>
                      </a:r>
                    </a:p>
                    <a:p>
                      <a:endParaRPr lang="en-US" dirty="0">
                        <a:latin typeface="Arial" panose="020B0604020202020204" pitchFamily="34" charset="0"/>
                        <a:cs typeface="Arial" panose="020B0604020202020204" pitchFamily="34"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Picture:</a:t>
                      </a:r>
                    </a:p>
                    <a:p>
                      <a:endParaRPr lang="en-US" dirty="0">
                        <a:latin typeface="Arial" panose="020B0604020202020204" pitchFamily="34" charset="0"/>
                        <a:cs typeface="Arial" panose="020B0604020202020204" pitchFamily="34" charset="0"/>
                      </a:endParaRPr>
                    </a:p>
                  </a:txBody>
                  <a:tcPr/>
                </a:tc>
                <a:tc hMerge="1">
                  <a:txBody>
                    <a:bodyPr/>
                    <a:lstStyle/>
                    <a:p>
                      <a:endParaRPr lang="en-US" dirty="0"/>
                    </a:p>
                  </a:txBody>
                  <a:tcPr/>
                </a:tc>
                <a:extLst>
                  <a:ext uri="{0D108BD9-81ED-4DB2-BD59-A6C34878D82A}">
                    <a16:rowId xmlns:a16="http://schemas.microsoft.com/office/drawing/2014/main" val="882118654"/>
                  </a:ext>
                </a:extLst>
              </a:tr>
            </a:tbl>
          </a:graphicData>
        </a:graphic>
      </p:graphicFrame>
      <p:sp>
        <p:nvSpPr>
          <p:cNvPr id="11" name="TextBox 10">
            <a:extLst>
              <a:ext uri="{FF2B5EF4-FFF2-40B4-BE49-F238E27FC236}">
                <a16:creationId xmlns:a16="http://schemas.microsoft.com/office/drawing/2014/main" id="{E3B9F593-37D1-4BE1-AFBD-3B6946A4C2F1}"/>
              </a:ext>
            </a:extLst>
          </p:cNvPr>
          <p:cNvSpPr txBox="1"/>
          <p:nvPr/>
        </p:nvSpPr>
        <p:spPr>
          <a:xfrm>
            <a:off x="243114" y="3033637"/>
            <a:ext cx="2573517"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p>
        </p:txBody>
      </p:sp>
      <p:sp>
        <p:nvSpPr>
          <p:cNvPr id="2" name="TextBox 1">
            <a:extLst>
              <a:ext uri="{FF2B5EF4-FFF2-40B4-BE49-F238E27FC236}">
                <a16:creationId xmlns:a16="http://schemas.microsoft.com/office/drawing/2014/main" id="{32F25F07-E6E5-4425-8289-F78C50D240BD}"/>
              </a:ext>
            </a:extLst>
          </p:cNvPr>
          <p:cNvSpPr txBox="1"/>
          <p:nvPr/>
        </p:nvSpPr>
        <p:spPr>
          <a:xfrm>
            <a:off x="243114" y="1131904"/>
            <a:ext cx="4702628"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principle used to explain patterns of trade and specialization: If each region or country specializes in those economic activities they perform relatively better than others and imports goods for which their own production costs are relatively higher, each is likely to gain.</a:t>
            </a:r>
          </a:p>
        </p:txBody>
      </p:sp>
      <p:sp>
        <p:nvSpPr>
          <p:cNvPr id="3" name="TextBox 2">
            <a:extLst>
              <a:ext uri="{FF2B5EF4-FFF2-40B4-BE49-F238E27FC236}">
                <a16:creationId xmlns:a16="http://schemas.microsoft.com/office/drawing/2014/main" id="{962E33E5-8716-4C5F-A47D-B6D3BBC8A2D7}"/>
              </a:ext>
            </a:extLst>
          </p:cNvPr>
          <p:cNvSpPr txBox="1"/>
          <p:nvPr/>
        </p:nvSpPr>
        <p:spPr>
          <a:xfrm>
            <a:off x="134133" y="89156"/>
            <a:ext cx="7006017" cy="707886"/>
          </a:xfrm>
          <a:prstGeom prst="rect">
            <a:avLst/>
          </a:prstGeom>
          <a:noFill/>
        </p:spPr>
        <p:txBody>
          <a:bodyPr wrap="square" rtlCol="0">
            <a:spAutoFit/>
          </a:bodyPr>
          <a:lstStyle/>
          <a:p>
            <a:r>
              <a:rPr lang="en-US" sz="4000" dirty="0">
                <a:latin typeface="Arial" panose="020B0604020202020204" pitchFamily="34" charset="0"/>
                <a:cs typeface="Arial" panose="020B0604020202020204" pitchFamily="34" charset="0"/>
              </a:rPr>
              <a:t>Comparative Advantage</a:t>
            </a:r>
          </a:p>
        </p:txBody>
      </p:sp>
      <p:sp>
        <p:nvSpPr>
          <p:cNvPr id="6" name="TextBox 5">
            <a:extLst>
              <a:ext uri="{FF2B5EF4-FFF2-40B4-BE49-F238E27FC236}">
                <a16:creationId xmlns:a16="http://schemas.microsoft.com/office/drawing/2014/main" id="{479FB8AA-8A2E-4C91-B1F8-835A20F5F26D}"/>
              </a:ext>
            </a:extLst>
          </p:cNvPr>
          <p:cNvSpPr txBox="1"/>
          <p:nvPr/>
        </p:nvSpPr>
        <p:spPr>
          <a:xfrm>
            <a:off x="5378574" y="1338635"/>
            <a:ext cx="390803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Saudi oil, Taiwanese semi-conductors</a:t>
            </a:r>
          </a:p>
        </p:txBody>
      </p:sp>
      <p:sp>
        <p:nvSpPr>
          <p:cNvPr id="7" name="TextBox 6">
            <a:extLst>
              <a:ext uri="{FF2B5EF4-FFF2-40B4-BE49-F238E27FC236}">
                <a16:creationId xmlns:a16="http://schemas.microsoft.com/office/drawing/2014/main" id="{7667CAAC-7066-42D4-8C08-4A67505A40A7}"/>
              </a:ext>
            </a:extLst>
          </p:cNvPr>
          <p:cNvSpPr txBox="1"/>
          <p:nvPr/>
        </p:nvSpPr>
        <p:spPr>
          <a:xfrm>
            <a:off x="9406689" y="1338635"/>
            <a:ext cx="2346287"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Opportunity cost, specialization, absolute advantage, trade</a:t>
            </a:r>
          </a:p>
        </p:txBody>
      </p:sp>
      <p:sp>
        <p:nvSpPr>
          <p:cNvPr id="8" name="TextBox 7">
            <a:extLst>
              <a:ext uri="{FF2B5EF4-FFF2-40B4-BE49-F238E27FC236}">
                <a16:creationId xmlns:a16="http://schemas.microsoft.com/office/drawing/2014/main" id="{10225743-476B-4AF3-B970-8B62EFFD62E9}"/>
              </a:ext>
            </a:extLst>
          </p:cNvPr>
          <p:cNvSpPr txBox="1"/>
          <p:nvPr/>
        </p:nvSpPr>
        <p:spPr>
          <a:xfrm>
            <a:off x="243114" y="3553872"/>
            <a:ext cx="4702628" cy="313932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Differences in local resources, infrastructure, geography, and culture (among other variables) result in different regions/populations being better at some activities than others. This results in a situation where this population/region can trade away the results of the activities they are good at, for the results of activities they are bad at. This trade results in acquiring more of the need good than they could make on their own.</a:t>
            </a:r>
          </a:p>
        </p:txBody>
      </p:sp>
      <p:sp>
        <p:nvSpPr>
          <p:cNvPr id="13" name="TextBox 12">
            <a:extLst>
              <a:ext uri="{FF2B5EF4-FFF2-40B4-BE49-F238E27FC236}">
                <a16:creationId xmlns:a16="http://schemas.microsoft.com/office/drawing/2014/main" id="{A8721EF6-7DCB-4236-BBAA-E4D75CBFA386}"/>
              </a:ext>
            </a:extLst>
          </p:cNvPr>
          <p:cNvSpPr txBox="1"/>
          <p:nvPr/>
        </p:nvSpPr>
        <p:spPr>
          <a:xfrm>
            <a:off x="10104372" y="205530"/>
            <a:ext cx="191705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Kyle Lund</a:t>
            </a:r>
          </a:p>
        </p:txBody>
      </p:sp>
      <p:pic>
        <p:nvPicPr>
          <p:cNvPr id="5" name="Picture 4" descr="A blue background with text and a blue square with apples&#10;&#10;AI-generated content may be incorrect.">
            <a:extLst>
              <a:ext uri="{FF2B5EF4-FFF2-40B4-BE49-F238E27FC236}">
                <a16:creationId xmlns:a16="http://schemas.microsoft.com/office/drawing/2014/main" id="{E1EAA0EE-506C-EFE1-2A2A-AF814AFA1A44}"/>
              </a:ext>
            </a:extLst>
          </p:cNvPr>
          <p:cNvPicPr>
            <a:picLocks noChangeAspect="1"/>
          </p:cNvPicPr>
          <p:nvPr/>
        </p:nvPicPr>
        <p:blipFill>
          <a:blip r:embed="rId3"/>
          <a:stretch>
            <a:fillRect/>
          </a:stretch>
        </p:blipFill>
        <p:spPr>
          <a:xfrm>
            <a:off x="6632847" y="3429000"/>
            <a:ext cx="4636470" cy="3090980"/>
          </a:xfrm>
          <a:prstGeom prst="rect">
            <a:avLst/>
          </a:prstGeom>
        </p:spPr>
      </p:pic>
    </p:spTree>
    <p:extLst>
      <p:ext uri="{BB962C8B-B14F-4D97-AF65-F5344CB8AC3E}">
        <p14:creationId xmlns:p14="http://schemas.microsoft.com/office/powerpoint/2010/main" val="499108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a:extLst>
              <a:ext uri="{FF2B5EF4-FFF2-40B4-BE49-F238E27FC236}">
                <a16:creationId xmlns:a16="http://schemas.microsoft.com/office/drawing/2014/main" id="{2486D985-4054-4A5D-9303-5AB4C0192F61}"/>
              </a:ext>
            </a:extLst>
          </p:cNvPr>
          <p:cNvGraphicFramePr>
            <a:graphicFrameLocks noGrp="1"/>
          </p:cNvGraphicFramePr>
          <p:nvPr/>
        </p:nvGraphicFramePr>
        <p:xfrm>
          <a:off x="243114" y="872455"/>
          <a:ext cx="11705772" cy="5756945"/>
        </p:xfrm>
        <a:graphic>
          <a:graphicData uri="http://schemas.openxmlformats.org/drawingml/2006/table">
            <a:tbl>
              <a:tblPr firstRow="1" bandRow="1">
                <a:tableStyleId>{5940675A-B579-460E-94D1-54222C63F5DA}</a:tableStyleId>
              </a:tblPr>
              <a:tblGrid>
                <a:gridCol w="5070268">
                  <a:extLst>
                    <a:ext uri="{9D8B030D-6E8A-4147-A177-3AD203B41FA5}">
                      <a16:colId xmlns:a16="http://schemas.microsoft.com/office/drawing/2014/main" val="3823543657"/>
                    </a:ext>
                  </a:extLst>
                </a:gridCol>
                <a:gridCol w="4092246">
                  <a:extLst>
                    <a:ext uri="{9D8B030D-6E8A-4147-A177-3AD203B41FA5}">
                      <a16:colId xmlns:a16="http://schemas.microsoft.com/office/drawing/2014/main" val="4079597162"/>
                    </a:ext>
                  </a:extLst>
                </a:gridCol>
                <a:gridCol w="2543258">
                  <a:extLst>
                    <a:ext uri="{9D8B030D-6E8A-4147-A177-3AD203B41FA5}">
                      <a16:colId xmlns:a16="http://schemas.microsoft.com/office/drawing/2014/main" val="2208191379"/>
                    </a:ext>
                  </a:extLst>
                </a:gridCol>
              </a:tblGrid>
              <a:tr h="2432177">
                <a:tc>
                  <a:txBody>
                    <a:bodyPr/>
                    <a:lstStyle/>
                    <a:p>
                      <a:r>
                        <a:rPr lang="en-US" b="1" dirty="0">
                          <a:latin typeface="Arial" panose="020B0604020202020204" pitchFamily="34" charset="0"/>
                          <a:cs typeface="Arial" panose="020B0604020202020204" pitchFamily="34" charset="0"/>
                        </a:rPr>
                        <a:t>Glossary Definition:</a:t>
                      </a:r>
                    </a:p>
                  </a:txBody>
                  <a:tcPr/>
                </a:tc>
                <a:tc>
                  <a:txBody>
                    <a:bodyPr/>
                    <a:lstStyle/>
                    <a:p>
                      <a:r>
                        <a:rPr lang="en-US" b="1" dirty="0">
                          <a:latin typeface="Arial" panose="020B0604020202020204" pitchFamily="34" charset="0"/>
                          <a:cs typeface="Arial" panose="020B0604020202020204" pitchFamily="34" charset="0"/>
                        </a:rPr>
                        <a:t>Examples:</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Related Words:</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13523141"/>
                  </a:ext>
                </a:extLst>
              </a:tr>
              <a:tr h="33247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My Definition:</a:t>
                      </a:r>
                    </a:p>
                    <a:p>
                      <a:endParaRPr lang="en-US" dirty="0">
                        <a:latin typeface="Arial" panose="020B0604020202020204" pitchFamily="34" charset="0"/>
                        <a:cs typeface="Arial" panose="020B0604020202020204" pitchFamily="34"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Picture:</a:t>
                      </a:r>
                    </a:p>
                    <a:p>
                      <a:endParaRPr lang="en-US" dirty="0">
                        <a:latin typeface="Arial" panose="020B0604020202020204" pitchFamily="34" charset="0"/>
                        <a:cs typeface="Arial" panose="020B0604020202020204" pitchFamily="34" charset="0"/>
                      </a:endParaRPr>
                    </a:p>
                  </a:txBody>
                  <a:tcPr/>
                </a:tc>
                <a:tc hMerge="1">
                  <a:txBody>
                    <a:bodyPr/>
                    <a:lstStyle/>
                    <a:p>
                      <a:endParaRPr lang="en-US" dirty="0"/>
                    </a:p>
                  </a:txBody>
                  <a:tcPr/>
                </a:tc>
                <a:extLst>
                  <a:ext uri="{0D108BD9-81ED-4DB2-BD59-A6C34878D82A}">
                    <a16:rowId xmlns:a16="http://schemas.microsoft.com/office/drawing/2014/main" val="882118654"/>
                  </a:ext>
                </a:extLst>
              </a:tr>
            </a:tbl>
          </a:graphicData>
        </a:graphic>
      </p:graphicFrame>
      <p:sp>
        <p:nvSpPr>
          <p:cNvPr id="11" name="TextBox 10">
            <a:extLst>
              <a:ext uri="{FF2B5EF4-FFF2-40B4-BE49-F238E27FC236}">
                <a16:creationId xmlns:a16="http://schemas.microsoft.com/office/drawing/2014/main" id="{E3B9F593-37D1-4BE1-AFBD-3B6946A4C2F1}"/>
              </a:ext>
            </a:extLst>
          </p:cNvPr>
          <p:cNvSpPr txBox="1"/>
          <p:nvPr/>
        </p:nvSpPr>
        <p:spPr>
          <a:xfrm>
            <a:off x="243114" y="3033637"/>
            <a:ext cx="2573517"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p>
        </p:txBody>
      </p:sp>
      <p:sp>
        <p:nvSpPr>
          <p:cNvPr id="2" name="TextBox 1">
            <a:extLst>
              <a:ext uri="{FF2B5EF4-FFF2-40B4-BE49-F238E27FC236}">
                <a16:creationId xmlns:a16="http://schemas.microsoft.com/office/drawing/2014/main" id="{32F25F07-E6E5-4425-8289-F78C50D240BD}"/>
              </a:ext>
            </a:extLst>
          </p:cNvPr>
          <p:cNvSpPr txBox="1"/>
          <p:nvPr/>
        </p:nvSpPr>
        <p:spPr>
          <a:xfrm>
            <a:off x="243114" y="1429515"/>
            <a:ext cx="4702628"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Xxxx</a:t>
            </a:r>
            <a:endParaRPr lang="en-US"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62E33E5-8716-4C5F-A47D-B6D3BBC8A2D7}"/>
              </a:ext>
            </a:extLst>
          </p:cNvPr>
          <p:cNvSpPr txBox="1"/>
          <p:nvPr/>
        </p:nvSpPr>
        <p:spPr>
          <a:xfrm>
            <a:off x="-416374" y="15419"/>
            <a:ext cx="3892492" cy="707886"/>
          </a:xfrm>
          <a:prstGeom prst="rect">
            <a:avLst/>
          </a:prstGeom>
          <a:noFill/>
        </p:spPr>
        <p:txBody>
          <a:bodyPr wrap="square" rtlCol="0">
            <a:spAutoFit/>
          </a:bodyPr>
          <a:lstStyle/>
          <a:p>
            <a:pPr algn="ctr"/>
            <a:r>
              <a:rPr lang="en-US" sz="4000" dirty="0">
                <a:latin typeface="Arial" panose="020B0604020202020204" pitchFamily="34" charset="0"/>
                <a:cs typeface="Arial" panose="020B0604020202020204" pitchFamily="34" charset="0"/>
              </a:rPr>
              <a:t>Definition 2</a:t>
            </a:r>
          </a:p>
        </p:txBody>
      </p:sp>
      <p:sp>
        <p:nvSpPr>
          <p:cNvPr id="6" name="TextBox 5">
            <a:extLst>
              <a:ext uri="{FF2B5EF4-FFF2-40B4-BE49-F238E27FC236}">
                <a16:creationId xmlns:a16="http://schemas.microsoft.com/office/drawing/2014/main" id="{479FB8AA-8A2E-4C91-B1F8-835A20F5F26D}"/>
              </a:ext>
            </a:extLst>
          </p:cNvPr>
          <p:cNvSpPr txBox="1"/>
          <p:nvPr/>
        </p:nvSpPr>
        <p:spPr>
          <a:xfrm>
            <a:off x="5378574" y="1338635"/>
            <a:ext cx="3908039"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Xxxxx</a:t>
            </a:r>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667CAAC-7066-42D4-8C08-4A67505A40A7}"/>
              </a:ext>
            </a:extLst>
          </p:cNvPr>
          <p:cNvSpPr txBox="1"/>
          <p:nvPr/>
        </p:nvSpPr>
        <p:spPr>
          <a:xfrm>
            <a:off x="9406689" y="1338635"/>
            <a:ext cx="2346287"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Xxxxx</a:t>
            </a:r>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0225743-476B-4AF3-B970-8B62EFFD62E9}"/>
              </a:ext>
            </a:extLst>
          </p:cNvPr>
          <p:cNvSpPr txBox="1"/>
          <p:nvPr/>
        </p:nvSpPr>
        <p:spPr>
          <a:xfrm>
            <a:off x="243114" y="3852042"/>
            <a:ext cx="4702628"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Xxxxxx</a:t>
            </a:r>
            <a:endParaRPr lang="en-US"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8721EF6-7DCB-4236-BBAA-E4D75CBFA386}"/>
              </a:ext>
            </a:extLst>
          </p:cNvPr>
          <p:cNvSpPr txBox="1"/>
          <p:nvPr/>
        </p:nvSpPr>
        <p:spPr>
          <a:xfrm>
            <a:off x="10104372" y="205530"/>
            <a:ext cx="191705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Your name here</a:t>
            </a:r>
          </a:p>
        </p:txBody>
      </p:sp>
    </p:spTree>
    <p:extLst>
      <p:ext uri="{BB962C8B-B14F-4D97-AF65-F5344CB8AC3E}">
        <p14:creationId xmlns:p14="http://schemas.microsoft.com/office/powerpoint/2010/main" val="3106217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a:extLst>
              <a:ext uri="{FF2B5EF4-FFF2-40B4-BE49-F238E27FC236}">
                <a16:creationId xmlns:a16="http://schemas.microsoft.com/office/drawing/2014/main" id="{2486D985-4054-4A5D-9303-5AB4C0192F61}"/>
              </a:ext>
            </a:extLst>
          </p:cNvPr>
          <p:cNvGraphicFramePr>
            <a:graphicFrameLocks noGrp="1"/>
          </p:cNvGraphicFramePr>
          <p:nvPr/>
        </p:nvGraphicFramePr>
        <p:xfrm>
          <a:off x="243114" y="872455"/>
          <a:ext cx="11705772" cy="5756945"/>
        </p:xfrm>
        <a:graphic>
          <a:graphicData uri="http://schemas.openxmlformats.org/drawingml/2006/table">
            <a:tbl>
              <a:tblPr firstRow="1" bandRow="1">
                <a:tableStyleId>{5940675A-B579-460E-94D1-54222C63F5DA}</a:tableStyleId>
              </a:tblPr>
              <a:tblGrid>
                <a:gridCol w="5070268">
                  <a:extLst>
                    <a:ext uri="{9D8B030D-6E8A-4147-A177-3AD203B41FA5}">
                      <a16:colId xmlns:a16="http://schemas.microsoft.com/office/drawing/2014/main" val="3823543657"/>
                    </a:ext>
                  </a:extLst>
                </a:gridCol>
                <a:gridCol w="4092246">
                  <a:extLst>
                    <a:ext uri="{9D8B030D-6E8A-4147-A177-3AD203B41FA5}">
                      <a16:colId xmlns:a16="http://schemas.microsoft.com/office/drawing/2014/main" val="4079597162"/>
                    </a:ext>
                  </a:extLst>
                </a:gridCol>
                <a:gridCol w="2543258">
                  <a:extLst>
                    <a:ext uri="{9D8B030D-6E8A-4147-A177-3AD203B41FA5}">
                      <a16:colId xmlns:a16="http://schemas.microsoft.com/office/drawing/2014/main" val="2208191379"/>
                    </a:ext>
                  </a:extLst>
                </a:gridCol>
              </a:tblGrid>
              <a:tr h="2432177">
                <a:tc>
                  <a:txBody>
                    <a:bodyPr/>
                    <a:lstStyle/>
                    <a:p>
                      <a:r>
                        <a:rPr lang="en-US" b="1" dirty="0">
                          <a:latin typeface="Arial" panose="020B0604020202020204" pitchFamily="34" charset="0"/>
                          <a:cs typeface="Arial" panose="020B0604020202020204" pitchFamily="34" charset="0"/>
                        </a:rPr>
                        <a:t>Glossary Definition:</a:t>
                      </a:r>
                    </a:p>
                  </a:txBody>
                  <a:tcPr/>
                </a:tc>
                <a:tc>
                  <a:txBody>
                    <a:bodyPr/>
                    <a:lstStyle/>
                    <a:p>
                      <a:r>
                        <a:rPr lang="en-US" b="1" dirty="0">
                          <a:latin typeface="Arial" panose="020B0604020202020204" pitchFamily="34" charset="0"/>
                          <a:cs typeface="Arial" panose="020B0604020202020204" pitchFamily="34" charset="0"/>
                        </a:rPr>
                        <a:t>Examples:</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Related Words:</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13523141"/>
                  </a:ext>
                </a:extLst>
              </a:tr>
              <a:tr h="33247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My Definition:</a:t>
                      </a:r>
                    </a:p>
                    <a:p>
                      <a:endParaRPr lang="en-US" dirty="0">
                        <a:latin typeface="Arial" panose="020B0604020202020204" pitchFamily="34" charset="0"/>
                        <a:cs typeface="Arial" panose="020B0604020202020204" pitchFamily="34"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Picture:</a:t>
                      </a:r>
                    </a:p>
                    <a:p>
                      <a:endParaRPr lang="en-US" dirty="0">
                        <a:latin typeface="Arial" panose="020B0604020202020204" pitchFamily="34" charset="0"/>
                        <a:cs typeface="Arial" panose="020B0604020202020204" pitchFamily="34" charset="0"/>
                      </a:endParaRPr>
                    </a:p>
                  </a:txBody>
                  <a:tcPr/>
                </a:tc>
                <a:tc hMerge="1">
                  <a:txBody>
                    <a:bodyPr/>
                    <a:lstStyle/>
                    <a:p>
                      <a:endParaRPr lang="en-US" dirty="0"/>
                    </a:p>
                  </a:txBody>
                  <a:tcPr/>
                </a:tc>
                <a:extLst>
                  <a:ext uri="{0D108BD9-81ED-4DB2-BD59-A6C34878D82A}">
                    <a16:rowId xmlns:a16="http://schemas.microsoft.com/office/drawing/2014/main" val="882118654"/>
                  </a:ext>
                </a:extLst>
              </a:tr>
            </a:tbl>
          </a:graphicData>
        </a:graphic>
      </p:graphicFrame>
      <p:sp>
        <p:nvSpPr>
          <p:cNvPr id="11" name="TextBox 10">
            <a:extLst>
              <a:ext uri="{FF2B5EF4-FFF2-40B4-BE49-F238E27FC236}">
                <a16:creationId xmlns:a16="http://schemas.microsoft.com/office/drawing/2014/main" id="{E3B9F593-37D1-4BE1-AFBD-3B6946A4C2F1}"/>
              </a:ext>
            </a:extLst>
          </p:cNvPr>
          <p:cNvSpPr txBox="1"/>
          <p:nvPr/>
        </p:nvSpPr>
        <p:spPr>
          <a:xfrm>
            <a:off x="243114" y="3033637"/>
            <a:ext cx="2573517"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p>
        </p:txBody>
      </p:sp>
      <p:sp>
        <p:nvSpPr>
          <p:cNvPr id="2" name="TextBox 1">
            <a:extLst>
              <a:ext uri="{FF2B5EF4-FFF2-40B4-BE49-F238E27FC236}">
                <a16:creationId xmlns:a16="http://schemas.microsoft.com/office/drawing/2014/main" id="{32F25F07-E6E5-4425-8289-F78C50D240BD}"/>
              </a:ext>
            </a:extLst>
          </p:cNvPr>
          <p:cNvSpPr txBox="1"/>
          <p:nvPr/>
        </p:nvSpPr>
        <p:spPr>
          <a:xfrm>
            <a:off x="243114" y="1429515"/>
            <a:ext cx="4702628"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Xxxx</a:t>
            </a:r>
            <a:endParaRPr lang="en-US"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62E33E5-8716-4C5F-A47D-B6D3BBC8A2D7}"/>
              </a:ext>
            </a:extLst>
          </p:cNvPr>
          <p:cNvSpPr txBox="1"/>
          <p:nvPr/>
        </p:nvSpPr>
        <p:spPr>
          <a:xfrm>
            <a:off x="-416374" y="15419"/>
            <a:ext cx="3892492" cy="707886"/>
          </a:xfrm>
          <a:prstGeom prst="rect">
            <a:avLst/>
          </a:prstGeom>
          <a:noFill/>
        </p:spPr>
        <p:txBody>
          <a:bodyPr wrap="square" rtlCol="0">
            <a:spAutoFit/>
          </a:bodyPr>
          <a:lstStyle/>
          <a:p>
            <a:pPr algn="ctr"/>
            <a:r>
              <a:rPr lang="en-US" sz="4000" dirty="0">
                <a:latin typeface="Arial" panose="020B0604020202020204" pitchFamily="34" charset="0"/>
                <a:cs typeface="Arial" panose="020B0604020202020204" pitchFamily="34" charset="0"/>
              </a:rPr>
              <a:t>Definition 3</a:t>
            </a:r>
          </a:p>
        </p:txBody>
      </p:sp>
      <p:sp>
        <p:nvSpPr>
          <p:cNvPr id="6" name="TextBox 5">
            <a:extLst>
              <a:ext uri="{FF2B5EF4-FFF2-40B4-BE49-F238E27FC236}">
                <a16:creationId xmlns:a16="http://schemas.microsoft.com/office/drawing/2014/main" id="{479FB8AA-8A2E-4C91-B1F8-835A20F5F26D}"/>
              </a:ext>
            </a:extLst>
          </p:cNvPr>
          <p:cNvSpPr txBox="1"/>
          <p:nvPr/>
        </p:nvSpPr>
        <p:spPr>
          <a:xfrm>
            <a:off x="5378574" y="1338635"/>
            <a:ext cx="3908039"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Xxxxx</a:t>
            </a:r>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667CAAC-7066-42D4-8C08-4A67505A40A7}"/>
              </a:ext>
            </a:extLst>
          </p:cNvPr>
          <p:cNvSpPr txBox="1"/>
          <p:nvPr/>
        </p:nvSpPr>
        <p:spPr>
          <a:xfrm>
            <a:off x="9406689" y="1338635"/>
            <a:ext cx="2346287"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Xxxxx</a:t>
            </a:r>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0225743-476B-4AF3-B970-8B62EFFD62E9}"/>
              </a:ext>
            </a:extLst>
          </p:cNvPr>
          <p:cNvSpPr txBox="1"/>
          <p:nvPr/>
        </p:nvSpPr>
        <p:spPr>
          <a:xfrm>
            <a:off x="243114" y="3852042"/>
            <a:ext cx="4702628"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Xxxxxx</a:t>
            </a:r>
            <a:endParaRPr lang="en-US"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8721EF6-7DCB-4236-BBAA-E4D75CBFA386}"/>
              </a:ext>
            </a:extLst>
          </p:cNvPr>
          <p:cNvSpPr txBox="1"/>
          <p:nvPr/>
        </p:nvSpPr>
        <p:spPr>
          <a:xfrm>
            <a:off x="10104372" y="205530"/>
            <a:ext cx="191705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Your name here</a:t>
            </a:r>
          </a:p>
        </p:txBody>
      </p:sp>
    </p:spTree>
    <p:extLst>
      <p:ext uri="{BB962C8B-B14F-4D97-AF65-F5344CB8AC3E}">
        <p14:creationId xmlns:p14="http://schemas.microsoft.com/office/powerpoint/2010/main" val="3172994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295</Words>
  <Application>Microsoft Office PowerPoint</Application>
  <PresentationFormat>Widescreen</PresentationFormat>
  <Paragraphs>55</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Gentona Book</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Aghane Antunes</dc:creator>
  <cp:lastModifiedBy>Kyle Lund</cp:lastModifiedBy>
  <cp:revision>6</cp:revision>
  <dcterms:created xsi:type="dcterms:W3CDTF">2020-12-22T21:55:35Z</dcterms:created>
  <dcterms:modified xsi:type="dcterms:W3CDTF">2025-07-21T18:18:46Z</dcterms:modified>
</cp:coreProperties>
</file>